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419" r:id="rId5"/>
    <p:sldId id="467" r:id="rId6"/>
    <p:sldId id="468" r:id="rId7"/>
    <p:sldId id="470" r:id="rId8"/>
    <p:sldId id="471" r:id="rId9"/>
    <p:sldId id="474" r:id="rId10"/>
    <p:sldId id="475" r:id="rId11"/>
    <p:sldId id="479" r:id="rId12"/>
    <p:sldId id="480" r:id="rId13"/>
    <p:sldId id="469" r:id="rId14"/>
    <p:sldId id="478" r:id="rId15"/>
    <p:sldId id="482" r:id="rId16"/>
    <p:sldId id="444" r:id="rId17"/>
    <p:sldId id="484" r:id="rId18"/>
    <p:sldId id="485" r:id="rId19"/>
    <p:sldId id="487" r:id="rId20"/>
    <p:sldId id="488" r:id="rId21"/>
    <p:sldId id="489" r:id="rId22"/>
    <p:sldId id="490" r:id="rId23"/>
  </p:sldIdLst>
  <p:sldSz cx="12192000" cy="6858000"/>
  <p:notesSz cx="6858000" cy="9144000"/>
  <p:embeddedFontLst>
    <p:embeddedFont>
      <p:font typeface="맑은 고딕" panose="020B0503020000020004" pitchFamily="34" charset="-127"/>
      <p:regular r:id="rId26"/>
      <p:bold r:id="rId27"/>
    </p:embeddedFont>
    <p:embeddedFont>
      <p:font typeface="Amasis MT Pro Medium" panose="02040604050005020304" pitchFamily="18" charset="0"/>
      <p:regular r:id="rId28"/>
      <p:italic r:id="rId29"/>
    </p:embeddedFont>
    <p:embeddedFont>
      <p:font typeface="Aptos Slab ExtraBold" panose="020B0004020202020204" pitchFamily="34" charset="0"/>
      <p:bold r:id="rId30"/>
      <p:boldItalic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97AA"/>
    <a:srgbClr val="076A97"/>
    <a:srgbClr val="517485"/>
    <a:srgbClr val="04415C"/>
    <a:srgbClr val="FBC67D"/>
    <a:srgbClr val="02202D"/>
    <a:srgbClr val="032F43"/>
    <a:srgbClr val="43606F"/>
    <a:srgbClr val="0542E5"/>
    <a:srgbClr val="011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1F29D-A03C-4002-845C-80ABE268ACBB}" v="33" dt="2025-11-16T12:02:39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504" y="5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FBC67D"/>
                </a:solidFill>
              </a:rPr>
              <a:t>Accuracy By Game Phase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Opening</c:v>
                </c:pt>
              </c:strCache>
            </c:strRef>
          </c:tx>
          <c:spPr>
            <a:solidFill>
              <a:srgbClr val="7297AA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CNN</c:v>
                </c:pt>
                <c:pt idx="1">
                  <c:v>Transformer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93.5</c:v>
                </c:pt>
                <c:pt idx="1">
                  <c:v>95.8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14-4C34-B1C6-2AFCFD5B6B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 Game</c:v>
                </c:pt>
              </c:strCache>
            </c:strRef>
          </c:tx>
          <c:spPr>
            <a:solidFill>
              <a:srgbClr val="43606F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CNN</c:v>
                </c:pt>
                <c:pt idx="1">
                  <c:v>Transformer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84.5</c:v>
                </c:pt>
                <c:pt idx="1">
                  <c:v>82.3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14-4C34-B1C6-2AFCFD5B6B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End Game</c:v>
                </c:pt>
              </c:strCache>
            </c:strRef>
          </c:tx>
          <c:spPr>
            <a:solidFill>
              <a:srgbClr val="04415C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CNN</c:v>
                </c:pt>
                <c:pt idx="1">
                  <c:v>Transformer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85.3</c:v>
                </c:pt>
                <c:pt idx="1">
                  <c:v>53.9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14-4C34-B1C6-2AFCFD5B6B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440823584"/>
        <c:axId val="1440818304"/>
      </c:barChart>
      <c:catAx>
        <c:axId val="1440823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818304"/>
        <c:crosses val="autoZero"/>
        <c:auto val="1"/>
        <c:lblAlgn val="ctr"/>
        <c:lblOffset val="100"/>
        <c:noMultiLvlLbl val="0"/>
      </c:catAx>
      <c:valAx>
        <c:axId val="14408183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4082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FBC67D"/>
                </a:solidFill>
              </a:rPr>
              <a:t>Accuracy By Game Phase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Opening</c:v>
                </c:pt>
              </c:strCache>
            </c:strRef>
          </c:tx>
          <c:spPr>
            <a:solidFill>
              <a:srgbClr val="7297AA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CNN</c:v>
                </c:pt>
                <c:pt idx="1">
                  <c:v>Transformer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93.5</c:v>
                </c:pt>
                <c:pt idx="1">
                  <c:v>95.8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71-45C1-9192-3F4CA4280F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 Game</c:v>
                </c:pt>
              </c:strCache>
            </c:strRef>
          </c:tx>
          <c:spPr>
            <a:solidFill>
              <a:srgbClr val="43606F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CNN</c:v>
                </c:pt>
                <c:pt idx="1">
                  <c:v>Transformer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84.5</c:v>
                </c:pt>
                <c:pt idx="1">
                  <c:v>82.3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71-45C1-9192-3F4CA4280F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End Game</c:v>
                </c:pt>
              </c:strCache>
            </c:strRef>
          </c:tx>
          <c:spPr>
            <a:solidFill>
              <a:srgbClr val="04415C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CNN</c:v>
                </c:pt>
                <c:pt idx="1">
                  <c:v>Transformer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85.3</c:v>
                </c:pt>
                <c:pt idx="1">
                  <c:v>53.9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71-45C1-9192-3F4CA4280F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440823584"/>
        <c:axId val="1440818304"/>
      </c:barChart>
      <c:catAx>
        <c:axId val="1440823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818304"/>
        <c:crosses val="autoZero"/>
        <c:auto val="1"/>
        <c:lblAlgn val="ctr"/>
        <c:lblOffset val="100"/>
        <c:noMultiLvlLbl val="0"/>
      </c:catAx>
      <c:valAx>
        <c:axId val="14408183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4082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4415C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7E7-4295-90A0-73F7F671B605}"/>
              </c:ext>
            </c:extLst>
          </c:dPt>
          <c:dPt>
            <c:idx val="1"/>
            <c:bubble3D val="0"/>
            <c:spPr>
              <a:solidFill>
                <a:srgbClr val="7297AA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7E7-4295-90A0-73F7F671B605}"/>
              </c:ext>
            </c:extLst>
          </c:dPt>
          <c:dPt>
            <c:idx val="2"/>
            <c:bubble3D val="0"/>
            <c:spPr>
              <a:solidFill>
                <a:srgbClr val="43606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7E7-4295-90A0-73F7F671B605}"/>
              </c:ext>
            </c:extLst>
          </c:dPt>
          <c:cat>
            <c:strRef>
              <c:f>Sheet1!$A$2:$A$4</c:f>
              <c:strCache>
                <c:ptCount val="3"/>
                <c:pt idx="0">
                  <c:v>Transformer Wins</c:v>
                </c:pt>
                <c:pt idx="1">
                  <c:v>CNN Wins</c:v>
                </c:pt>
                <c:pt idx="2">
                  <c:v>Draw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E7-4295-90A0-73F7F671B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4415C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477-4FF4-8C32-7009B2AA10B7}"/>
              </c:ext>
            </c:extLst>
          </c:dPt>
          <c:dPt>
            <c:idx val="1"/>
            <c:bubble3D val="0"/>
            <c:spPr>
              <a:solidFill>
                <a:srgbClr val="7297AA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477-4FF4-8C32-7009B2AA10B7}"/>
              </c:ext>
            </c:extLst>
          </c:dPt>
          <c:dPt>
            <c:idx val="2"/>
            <c:bubble3D val="0"/>
            <c:spPr>
              <a:solidFill>
                <a:srgbClr val="43606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477-4FF4-8C32-7009B2AA10B7}"/>
              </c:ext>
            </c:extLst>
          </c:dPt>
          <c:cat>
            <c:strRef>
              <c:f>Sheet1!$A$2:$A$4</c:f>
              <c:strCache>
                <c:ptCount val="3"/>
                <c:pt idx="0">
                  <c:v>Transformer Wins</c:v>
                </c:pt>
                <c:pt idx="1">
                  <c:v>CNN Wins</c:v>
                </c:pt>
                <c:pt idx="2">
                  <c:v>Draw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48.4</c:v>
                </c:pt>
                <c:pt idx="1">
                  <c:v>32.799999999999997</c:v>
                </c:pt>
                <c:pt idx="2">
                  <c:v>18.8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28-4838-8BFC-A8F71CBFDA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FBC67D"/>
                </a:solidFill>
              </a:rPr>
              <a:t>Accuracy By Game Phase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Opening</c:v>
                </c:pt>
              </c:strCache>
            </c:strRef>
          </c:tx>
          <c:spPr>
            <a:solidFill>
              <a:srgbClr val="7297AA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CNN</c:v>
                </c:pt>
                <c:pt idx="1">
                  <c:v>Transformer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93.5</c:v>
                </c:pt>
                <c:pt idx="1">
                  <c:v>95.8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14-4CF7-A5C5-24BD63D669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 Game</c:v>
                </c:pt>
              </c:strCache>
            </c:strRef>
          </c:tx>
          <c:spPr>
            <a:solidFill>
              <a:srgbClr val="43606F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CNN</c:v>
                </c:pt>
                <c:pt idx="1">
                  <c:v>Transformer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84.5</c:v>
                </c:pt>
                <c:pt idx="1">
                  <c:v>82.3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14-4CF7-A5C5-24BD63D669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End Game</c:v>
                </c:pt>
              </c:strCache>
            </c:strRef>
          </c:tx>
          <c:spPr>
            <a:solidFill>
              <a:srgbClr val="04415C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CNN</c:v>
                </c:pt>
                <c:pt idx="1">
                  <c:v>Transformer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85.3</c:v>
                </c:pt>
                <c:pt idx="1">
                  <c:v>53.9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14-4CF7-A5C5-24BD63D669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440823584"/>
        <c:axId val="1440818304"/>
      </c:barChart>
      <c:catAx>
        <c:axId val="1440823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818304"/>
        <c:crosses val="autoZero"/>
        <c:auto val="1"/>
        <c:lblAlgn val="ctr"/>
        <c:lblOffset val="100"/>
        <c:noMultiLvlLbl val="0"/>
      </c:catAx>
      <c:valAx>
        <c:axId val="14408183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4082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dirty="0">
                <a:solidFill>
                  <a:srgbClr val="7297AA"/>
                </a:solidFill>
                <a:latin typeface="Amasis MT Pro Medium" panose="02040604050005020304" pitchFamily="18" charset="0"/>
              </a:rPr>
              <a:t>Accuracy by Puzzle Rating (%)</a:t>
            </a:r>
          </a:p>
        </c:rich>
      </c:tx>
      <c:layout>
        <c:manualLayout>
          <c:xMode val="edge"/>
          <c:yMode val="edge"/>
          <c:x val="0.10865632007656327"/>
          <c:y val="1.4091440503977965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</c:v>
                </c:pt>
              </c:strCache>
            </c:strRef>
          </c:tx>
          <c:spPr>
            <a:ln>
              <a:solidFill>
                <a:srgbClr val="076A97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&lt;1k</c:v>
                </c:pt>
                <c:pt idx="1">
                  <c:v>1k-1.5k</c:v>
                </c:pt>
                <c:pt idx="2">
                  <c:v>1.5k-2k</c:v>
                </c:pt>
                <c:pt idx="3">
                  <c:v>2k-2.5k</c:v>
                </c:pt>
                <c:pt idx="4">
                  <c:v>≥2.5k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45.4</c:v>
                </c:pt>
                <c:pt idx="1">
                  <c:v>40.1</c:v>
                </c:pt>
                <c:pt idx="2">
                  <c:v>34.5</c:v>
                </c:pt>
                <c:pt idx="3">
                  <c:v>31.7</c:v>
                </c:pt>
                <c:pt idx="4">
                  <c:v>31.7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24-42E8-9617-E0A9FBB9B2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Transformer</c:v>
                </c:pt>
              </c:strCache>
            </c:strRef>
          </c:tx>
          <c:spPr>
            <a:ln>
              <a:solidFill>
                <a:srgbClr val="7297AA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&lt;1k</c:v>
                </c:pt>
                <c:pt idx="1">
                  <c:v>1k-1.5k</c:v>
                </c:pt>
                <c:pt idx="2">
                  <c:v>1.5k-2k</c:v>
                </c:pt>
                <c:pt idx="3">
                  <c:v>2k-2.5k</c:v>
                </c:pt>
                <c:pt idx="4">
                  <c:v>≥2.5k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41.2</c:v>
                </c:pt>
                <c:pt idx="1">
                  <c:v>40</c:v>
                </c:pt>
                <c:pt idx="2">
                  <c:v>36.200000000000003</c:v>
                </c:pt>
                <c:pt idx="3">
                  <c:v>33.4</c:v>
                </c:pt>
                <c:pt idx="4">
                  <c:v>32.9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24-42E8-9617-E0A9FBB9B2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517485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"/>
          <c:min val="2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517485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621865021410527"/>
          <c:y val="4.6612709887567652E-3"/>
          <c:w val="0.2517676953058543"/>
          <c:h val="0.1949804143771158"/>
        </c:manualLayout>
      </c:layout>
      <c:overlay val="0"/>
      <c:txPr>
        <a:bodyPr/>
        <a:lstStyle/>
        <a:p>
          <a:pPr>
            <a:defRPr sz="1400">
              <a:solidFill>
                <a:srgbClr val="FBC67D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dirty="0">
                <a:solidFill>
                  <a:srgbClr val="7297AA"/>
                </a:solidFill>
                <a:latin typeface="Amasis MT Pro Medium" panose="02040604050005020304" pitchFamily="18" charset="0"/>
              </a:rPr>
              <a:t>Accuracy by Puzzle Rating (%)</a:t>
            </a:r>
          </a:p>
        </c:rich>
      </c:tx>
      <c:layout>
        <c:manualLayout>
          <c:xMode val="edge"/>
          <c:yMode val="edge"/>
          <c:x val="0.10865632007656327"/>
          <c:y val="1.4091440503977965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</c:v>
                </c:pt>
              </c:strCache>
            </c:strRef>
          </c:tx>
          <c:spPr>
            <a:ln>
              <a:solidFill>
                <a:srgbClr val="076A97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&lt;1k</c:v>
                </c:pt>
                <c:pt idx="1">
                  <c:v>1k-1.5k</c:v>
                </c:pt>
                <c:pt idx="2">
                  <c:v>1.5k-2k</c:v>
                </c:pt>
                <c:pt idx="3">
                  <c:v>2k-2.5k</c:v>
                </c:pt>
                <c:pt idx="4">
                  <c:v>≥2.5k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45.4</c:v>
                </c:pt>
                <c:pt idx="1">
                  <c:v>40.1</c:v>
                </c:pt>
                <c:pt idx="2">
                  <c:v>34.5</c:v>
                </c:pt>
                <c:pt idx="3">
                  <c:v>31.7</c:v>
                </c:pt>
                <c:pt idx="4">
                  <c:v>31.7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94-4F48-A96A-723EE17A7D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Transformer</c:v>
                </c:pt>
              </c:strCache>
            </c:strRef>
          </c:tx>
          <c:spPr>
            <a:ln>
              <a:solidFill>
                <a:srgbClr val="7297AA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&lt;1k</c:v>
                </c:pt>
                <c:pt idx="1">
                  <c:v>1k-1.5k</c:v>
                </c:pt>
                <c:pt idx="2">
                  <c:v>1.5k-2k</c:v>
                </c:pt>
                <c:pt idx="3">
                  <c:v>2k-2.5k</c:v>
                </c:pt>
                <c:pt idx="4">
                  <c:v>≥2.5k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41.2</c:v>
                </c:pt>
                <c:pt idx="1">
                  <c:v>40</c:v>
                </c:pt>
                <c:pt idx="2">
                  <c:v>36.200000000000003</c:v>
                </c:pt>
                <c:pt idx="3">
                  <c:v>33.4</c:v>
                </c:pt>
                <c:pt idx="4">
                  <c:v>32.9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94-4F48-A96A-723EE17A7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517485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"/>
          <c:min val="2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517485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621865021410527"/>
          <c:y val="4.6612709887567652E-3"/>
          <c:w val="0.2517676953058543"/>
          <c:h val="0.1949804143771158"/>
        </c:manualLayout>
      </c:layout>
      <c:overlay val="0"/>
      <c:txPr>
        <a:bodyPr/>
        <a:lstStyle/>
        <a:p>
          <a:pPr>
            <a:defRPr sz="1400">
              <a:solidFill>
                <a:srgbClr val="FBC67D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4415C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681-44AF-9DC6-CBCD2A89B3B8}"/>
              </c:ext>
            </c:extLst>
          </c:dPt>
          <c:dPt>
            <c:idx val="1"/>
            <c:bubble3D val="0"/>
            <c:spPr>
              <a:solidFill>
                <a:srgbClr val="7297AA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681-44AF-9DC6-CBCD2A89B3B8}"/>
              </c:ext>
            </c:extLst>
          </c:dPt>
          <c:dPt>
            <c:idx val="2"/>
            <c:bubble3D val="0"/>
            <c:spPr>
              <a:solidFill>
                <a:srgbClr val="43606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681-44AF-9DC6-CBCD2A89B3B8}"/>
              </c:ext>
            </c:extLst>
          </c:dPt>
          <c:cat>
            <c:strRef>
              <c:f>Sheet1!$A$2:$A$4</c:f>
              <c:strCache>
                <c:ptCount val="3"/>
                <c:pt idx="0">
                  <c:v>Transformer Wins</c:v>
                </c:pt>
                <c:pt idx="1">
                  <c:v>CNN Wins</c:v>
                </c:pt>
                <c:pt idx="2">
                  <c:v>Draw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81-44AF-9DC6-CBCD2A89B3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US" b="1" dirty="0">
                <a:solidFill>
                  <a:srgbClr val="076A97"/>
                </a:solidFill>
              </a:rPr>
              <a:t>CNN</a:t>
            </a:r>
            <a:r>
              <a:rPr lang="en-US" dirty="0"/>
              <a:t> </a:t>
            </a:r>
            <a:r>
              <a:rPr lang="en-US" dirty="0">
                <a:solidFill>
                  <a:srgbClr val="FBC67D"/>
                </a:solidFill>
              </a:rPr>
              <a:t>vs</a:t>
            </a:r>
            <a:r>
              <a:rPr lang="en-US" dirty="0"/>
              <a:t> </a:t>
            </a:r>
            <a:r>
              <a:rPr lang="en-US" b="1" dirty="0">
                <a:solidFill>
                  <a:srgbClr val="517485"/>
                </a:solidFill>
              </a:rPr>
              <a:t>Transformer</a:t>
            </a:r>
            <a:r>
              <a:rPr lang="en-US" dirty="0"/>
              <a:t> </a:t>
            </a:r>
            <a:r>
              <a:rPr lang="en-US" dirty="0">
                <a:solidFill>
                  <a:srgbClr val="FBC67D"/>
                </a:solidFill>
              </a:rPr>
              <a:t>: Accuracy Difference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Advantage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76A97"/>
              </a:solidFill>
            </c:spPr>
            <c:extLst>
              <c:ext xmlns:c16="http://schemas.microsoft.com/office/drawing/2014/chart" uri="{C3380CC4-5D6E-409C-BE32-E72D297353CC}">
                <c16:uniqueId val="{00000001-7B78-4381-8F4C-5E11095F509C}"/>
              </c:ext>
            </c:extLst>
          </c:dPt>
          <c:dPt>
            <c:idx val="1"/>
            <c:invertIfNegative val="1"/>
            <c:bubble3D val="0"/>
            <c:spPr>
              <a:solidFill>
                <a:srgbClr val="076A97"/>
              </a:solidFill>
            </c:spPr>
            <c:extLst>
              <c:ext xmlns:c16="http://schemas.microsoft.com/office/drawing/2014/chart" uri="{C3380CC4-5D6E-409C-BE32-E72D297353CC}">
                <c16:uniqueId val="{00000003-7B78-4381-8F4C-5E11095F509C}"/>
              </c:ext>
            </c:extLst>
          </c:dPt>
          <c:dPt>
            <c:idx val="2"/>
            <c:invertIfNegative val="1"/>
            <c:bubble3D val="0"/>
            <c:spPr>
              <a:solidFill>
                <a:srgbClr val="076A97"/>
              </a:solidFill>
            </c:spPr>
            <c:extLst>
              <c:ext xmlns:c16="http://schemas.microsoft.com/office/drawing/2014/chart" uri="{C3380CC4-5D6E-409C-BE32-E72D297353CC}">
                <c16:uniqueId val="{00000005-7B78-4381-8F4C-5E11095F509C}"/>
              </c:ext>
            </c:extLst>
          </c:dPt>
          <c:dPt>
            <c:idx val="3"/>
            <c:invertIfNegative val="1"/>
            <c:bubble3D val="0"/>
            <c:spPr>
              <a:solidFill>
                <a:srgbClr val="076A97"/>
              </a:solidFill>
            </c:spPr>
            <c:extLst>
              <c:ext xmlns:c16="http://schemas.microsoft.com/office/drawing/2014/chart" uri="{C3380CC4-5D6E-409C-BE32-E72D297353CC}">
                <c16:uniqueId val="{00000007-7B78-4381-8F4C-5E11095F509C}"/>
              </c:ext>
            </c:extLst>
          </c:dPt>
          <c:dPt>
            <c:idx val="4"/>
            <c:invertIfNegative val="1"/>
            <c:bubble3D val="0"/>
            <c:spPr>
              <a:gradFill>
                <a:gsLst>
                  <a:gs pos="0">
                    <a:srgbClr val="7297AA"/>
                  </a:gs>
                  <a:gs pos="100000">
                    <a:srgbClr val="7297AA"/>
                  </a:gs>
                </a:gsLst>
                <a:lin ang="5400000" scaled="1"/>
              </a:gradFill>
            </c:spPr>
            <c:extLst>
              <c:ext xmlns:c16="http://schemas.microsoft.com/office/drawing/2014/chart" uri="{C3380CC4-5D6E-409C-BE32-E72D297353CC}">
                <c16:uniqueId val="{00000009-7B78-4381-8F4C-5E11095F509C}"/>
              </c:ext>
            </c:extLst>
          </c:dPt>
          <c:dPt>
            <c:idx val="5"/>
            <c:invertIfNegative val="1"/>
            <c:bubble3D val="0"/>
            <c:spPr>
              <a:gradFill>
                <a:gsLst>
                  <a:gs pos="0">
                    <a:srgbClr val="7297AA"/>
                  </a:gs>
                  <a:gs pos="100000">
                    <a:srgbClr val="7297AA"/>
                  </a:gs>
                </a:gsLst>
                <a:lin ang="5400000" scaled="1"/>
              </a:gradFill>
            </c:spPr>
            <c:extLst>
              <c:ext xmlns:c16="http://schemas.microsoft.com/office/drawing/2014/chart" uri="{C3380CC4-5D6E-409C-BE32-E72D297353CC}">
                <c16:uniqueId val="{0000000B-7B78-4381-8F4C-5E11095F509C}"/>
              </c:ext>
            </c:extLst>
          </c:dPt>
          <c:dPt>
            <c:idx val="6"/>
            <c:invertIfNegative val="1"/>
            <c:bubble3D val="0"/>
            <c:spPr>
              <a:gradFill>
                <a:gsLst>
                  <a:gs pos="0">
                    <a:srgbClr val="7297AA"/>
                  </a:gs>
                  <a:gs pos="100000">
                    <a:srgbClr val="7297AA"/>
                  </a:gs>
                </a:gsLst>
                <a:lin ang="5400000" scaled="1"/>
              </a:gradFill>
            </c:spPr>
            <c:extLst>
              <c:ext xmlns:c16="http://schemas.microsoft.com/office/drawing/2014/chart" uri="{C3380CC4-5D6E-409C-BE32-E72D297353CC}">
                <c16:uniqueId val="{0000000D-7B78-4381-8F4C-5E11095F509C}"/>
              </c:ext>
            </c:extLst>
          </c:dPt>
          <c:dPt>
            <c:idx val="7"/>
            <c:invertIfNegative val="1"/>
            <c:bubble3D val="0"/>
            <c:spPr>
              <a:gradFill>
                <a:gsLst>
                  <a:gs pos="0">
                    <a:srgbClr val="7297AA"/>
                  </a:gs>
                  <a:gs pos="100000">
                    <a:srgbClr val="7297AA"/>
                  </a:gs>
                </a:gsLst>
                <a:lin ang="5400000" scaled="1"/>
              </a:gradFill>
            </c:spPr>
            <c:extLst>
              <c:ext xmlns:c16="http://schemas.microsoft.com/office/drawing/2014/chart" uri="{C3380CC4-5D6E-409C-BE32-E72D297353CC}">
                <c16:uniqueId val="{0000000F-7B78-4381-8F4C-5E11095F509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Back-rank mate</c:v>
                </c:pt>
                <c:pt idx="1">
                  <c:v>Mate-in-1</c:v>
                </c:pt>
                <c:pt idx="2">
                  <c:v>Mate-in-2</c:v>
                </c:pt>
                <c:pt idx="3">
                  <c:v>Fork</c:v>
                </c:pt>
                <c:pt idx="4">
                  <c:v>Attraction</c:v>
                </c:pt>
                <c:pt idx="5">
                  <c:v>Sacrifice</c:v>
                </c:pt>
                <c:pt idx="6">
                  <c:v>Discovered attack</c:v>
                </c:pt>
                <c:pt idx="7">
                  <c:v>Quiet move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</c:v>
                </c:pt>
                <c:pt idx="1">
                  <c:v>4.5</c:v>
                </c:pt>
                <c:pt idx="2">
                  <c:v>2.5</c:v>
                </c:pt>
                <c:pt idx="3">
                  <c:v>1.2</c:v>
                </c:pt>
                <c:pt idx="4">
                  <c:v>-3.1</c:v>
                </c:pt>
                <c:pt idx="5">
                  <c:v>-2.7</c:v>
                </c:pt>
                <c:pt idx="6">
                  <c:v>-2.7</c:v>
                </c:pt>
                <c:pt idx="7">
                  <c:v>-1.9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B78-4381-8F4C-5E11095F50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high"/>
        <c:spPr>
          <a:noFill/>
          <a:ln w="9525" cap="flat" cmpd="sng" algn="ctr">
            <a:solidFill>
              <a:srgbClr val="FBC67D">
                <a:alpha val="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297AA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At val="0"/>
        <c:auto val="0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297AA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solidFill>
      <a:srgbClr val="02202D"/>
    </a:solidFill>
    <a:ln>
      <a:noFill/>
    </a:ln>
    <a:effectLst>
      <a:outerShdw blurRad="482600" sx="109000" sy="109000" algn="ctr" rotWithShape="0">
        <a:prstClr val="black">
          <a:alpha val="20000"/>
        </a:prstClr>
      </a:outerShdw>
    </a:effectLst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US" b="1" dirty="0">
                <a:solidFill>
                  <a:srgbClr val="076A97"/>
                </a:solidFill>
              </a:rPr>
              <a:t>CNN</a:t>
            </a:r>
            <a:r>
              <a:rPr lang="en-US" dirty="0"/>
              <a:t> </a:t>
            </a:r>
            <a:r>
              <a:rPr lang="en-US" dirty="0">
                <a:solidFill>
                  <a:srgbClr val="FBC67D"/>
                </a:solidFill>
              </a:rPr>
              <a:t>vs</a:t>
            </a:r>
            <a:r>
              <a:rPr lang="en-US" dirty="0"/>
              <a:t> </a:t>
            </a:r>
            <a:r>
              <a:rPr lang="en-US" b="1" dirty="0">
                <a:solidFill>
                  <a:srgbClr val="517485"/>
                </a:solidFill>
              </a:rPr>
              <a:t>Transformer</a:t>
            </a:r>
            <a:r>
              <a:rPr lang="en-US" dirty="0"/>
              <a:t> </a:t>
            </a:r>
            <a:r>
              <a:rPr lang="en-US" dirty="0">
                <a:solidFill>
                  <a:srgbClr val="FBC67D"/>
                </a:solidFill>
              </a:rPr>
              <a:t>: Accuracy Difference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Advantage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76A97"/>
              </a:solidFill>
            </c:spPr>
            <c:extLst>
              <c:ext xmlns:c16="http://schemas.microsoft.com/office/drawing/2014/chart" uri="{C3380CC4-5D6E-409C-BE32-E72D297353CC}">
                <c16:uniqueId val="{00000001-1D3B-40D2-994E-38C269A024B3}"/>
              </c:ext>
            </c:extLst>
          </c:dPt>
          <c:dPt>
            <c:idx val="1"/>
            <c:invertIfNegative val="1"/>
            <c:bubble3D val="0"/>
            <c:spPr>
              <a:solidFill>
                <a:srgbClr val="076A97"/>
              </a:solidFill>
            </c:spPr>
            <c:extLst>
              <c:ext xmlns:c16="http://schemas.microsoft.com/office/drawing/2014/chart" uri="{C3380CC4-5D6E-409C-BE32-E72D297353CC}">
                <c16:uniqueId val="{00000003-1D3B-40D2-994E-38C269A024B3}"/>
              </c:ext>
            </c:extLst>
          </c:dPt>
          <c:dPt>
            <c:idx val="2"/>
            <c:invertIfNegative val="1"/>
            <c:bubble3D val="0"/>
            <c:spPr>
              <a:solidFill>
                <a:srgbClr val="076A97"/>
              </a:solidFill>
            </c:spPr>
            <c:extLst>
              <c:ext xmlns:c16="http://schemas.microsoft.com/office/drawing/2014/chart" uri="{C3380CC4-5D6E-409C-BE32-E72D297353CC}">
                <c16:uniqueId val="{00000005-1D3B-40D2-994E-38C269A024B3}"/>
              </c:ext>
            </c:extLst>
          </c:dPt>
          <c:dPt>
            <c:idx val="3"/>
            <c:invertIfNegative val="1"/>
            <c:bubble3D val="0"/>
            <c:spPr>
              <a:solidFill>
                <a:srgbClr val="076A97"/>
              </a:solidFill>
            </c:spPr>
            <c:extLst>
              <c:ext xmlns:c16="http://schemas.microsoft.com/office/drawing/2014/chart" uri="{C3380CC4-5D6E-409C-BE32-E72D297353CC}">
                <c16:uniqueId val="{00000007-1D3B-40D2-994E-38C269A024B3}"/>
              </c:ext>
            </c:extLst>
          </c:dPt>
          <c:dPt>
            <c:idx val="4"/>
            <c:invertIfNegative val="1"/>
            <c:bubble3D val="0"/>
            <c:spPr>
              <a:gradFill>
                <a:gsLst>
                  <a:gs pos="0">
                    <a:srgbClr val="7297AA"/>
                  </a:gs>
                  <a:gs pos="100000">
                    <a:srgbClr val="7297AA"/>
                  </a:gs>
                </a:gsLst>
                <a:lin ang="5400000" scaled="1"/>
              </a:gradFill>
            </c:spPr>
            <c:extLst>
              <c:ext xmlns:c16="http://schemas.microsoft.com/office/drawing/2014/chart" uri="{C3380CC4-5D6E-409C-BE32-E72D297353CC}">
                <c16:uniqueId val="{00000009-1D3B-40D2-994E-38C269A024B3}"/>
              </c:ext>
            </c:extLst>
          </c:dPt>
          <c:dPt>
            <c:idx val="5"/>
            <c:invertIfNegative val="1"/>
            <c:bubble3D val="0"/>
            <c:spPr>
              <a:gradFill>
                <a:gsLst>
                  <a:gs pos="0">
                    <a:srgbClr val="7297AA"/>
                  </a:gs>
                  <a:gs pos="100000">
                    <a:srgbClr val="7297AA"/>
                  </a:gs>
                </a:gsLst>
                <a:lin ang="5400000" scaled="1"/>
              </a:gradFill>
            </c:spPr>
            <c:extLst>
              <c:ext xmlns:c16="http://schemas.microsoft.com/office/drawing/2014/chart" uri="{C3380CC4-5D6E-409C-BE32-E72D297353CC}">
                <c16:uniqueId val="{0000000B-1D3B-40D2-994E-38C269A024B3}"/>
              </c:ext>
            </c:extLst>
          </c:dPt>
          <c:dPt>
            <c:idx val="6"/>
            <c:invertIfNegative val="1"/>
            <c:bubble3D val="0"/>
            <c:spPr>
              <a:gradFill>
                <a:gsLst>
                  <a:gs pos="0">
                    <a:srgbClr val="7297AA"/>
                  </a:gs>
                  <a:gs pos="100000">
                    <a:srgbClr val="7297AA"/>
                  </a:gs>
                </a:gsLst>
                <a:lin ang="5400000" scaled="1"/>
              </a:gradFill>
            </c:spPr>
            <c:extLst>
              <c:ext xmlns:c16="http://schemas.microsoft.com/office/drawing/2014/chart" uri="{C3380CC4-5D6E-409C-BE32-E72D297353CC}">
                <c16:uniqueId val="{0000000D-1D3B-40D2-994E-38C269A024B3}"/>
              </c:ext>
            </c:extLst>
          </c:dPt>
          <c:dPt>
            <c:idx val="7"/>
            <c:invertIfNegative val="1"/>
            <c:bubble3D val="0"/>
            <c:spPr>
              <a:gradFill>
                <a:gsLst>
                  <a:gs pos="0">
                    <a:srgbClr val="7297AA"/>
                  </a:gs>
                  <a:gs pos="100000">
                    <a:srgbClr val="7297AA"/>
                  </a:gs>
                </a:gsLst>
                <a:lin ang="5400000" scaled="1"/>
              </a:gradFill>
            </c:spPr>
            <c:extLst>
              <c:ext xmlns:c16="http://schemas.microsoft.com/office/drawing/2014/chart" uri="{C3380CC4-5D6E-409C-BE32-E72D297353CC}">
                <c16:uniqueId val="{0000000F-1D3B-40D2-994E-38C269A024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Back-rank mate</c:v>
                </c:pt>
                <c:pt idx="1">
                  <c:v>Mate-in-1</c:v>
                </c:pt>
                <c:pt idx="2">
                  <c:v>Mate-in-2</c:v>
                </c:pt>
                <c:pt idx="3">
                  <c:v>Fork</c:v>
                </c:pt>
                <c:pt idx="4">
                  <c:v>Attraction</c:v>
                </c:pt>
                <c:pt idx="5">
                  <c:v>Sacrifice</c:v>
                </c:pt>
                <c:pt idx="6">
                  <c:v>Discovered attack</c:v>
                </c:pt>
                <c:pt idx="7">
                  <c:v>Quiet move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</c:v>
                </c:pt>
                <c:pt idx="1">
                  <c:v>4.5</c:v>
                </c:pt>
                <c:pt idx="2">
                  <c:v>2.5</c:v>
                </c:pt>
                <c:pt idx="3">
                  <c:v>1.2</c:v>
                </c:pt>
                <c:pt idx="4">
                  <c:v>-3.1</c:v>
                </c:pt>
                <c:pt idx="5">
                  <c:v>-2.7</c:v>
                </c:pt>
                <c:pt idx="6">
                  <c:v>-2.7</c:v>
                </c:pt>
                <c:pt idx="7">
                  <c:v>-1.9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D3B-40D2-994E-38C269A024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high"/>
        <c:spPr>
          <a:noFill/>
          <a:ln w="9525" cap="flat" cmpd="sng" algn="ctr">
            <a:solidFill>
              <a:srgbClr val="FBC67D">
                <a:alpha val="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297AA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At val="0"/>
        <c:auto val="0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297AA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solidFill>
      <a:srgbClr val="02202D"/>
    </a:solidFill>
    <a:ln>
      <a:noFill/>
    </a:ln>
    <a:effectLst>
      <a:outerShdw blurRad="482600" sx="109000" sy="109000" algn="ctr" rotWithShape="0">
        <a:prstClr val="black">
          <a:alpha val="20000"/>
        </a:prstClr>
      </a:outerShdw>
    </a:effectLst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dirty="0">
                <a:solidFill>
                  <a:srgbClr val="7297AA"/>
                </a:solidFill>
                <a:latin typeface="Amasis MT Pro Medium" panose="02040604050005020304" pitchFamily="18" charset="0"/>
              </a:rPr>
              <a:t>Accuracy by Puzzle Rating (%)</a:t>
            </a:r>
          </a:p>
        </c:rich>
      </c:tx>
      <c:layout>
        <c:manualLayout>
          <c:xMode val="edge"/>
          <c:yMode val="edge"/>
          <c:x val="0.10865632007656327"/>
          <c:y val="1.4091440503977965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</c:v>
                </c:pt>
              </c:strCache>
            </c:strRef>
          </c:tx>
          <c:spPr>
            <a:ln>
              <a:solidFill>
                <a:srgbClr val="076A97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&lt;1k</c:v>
                </c:pt>
                <c:pt idx="1">
                  <c:v>1k-1.5k</c:v>
                </c:pt>
                <c:pt idx="2">
                  <c:v>1.5k-2k</c:v>
                </c:pt>
                <c:pt idx="3">
                  <c:v>2k-2.5k</c:v>
                </c:pt>
                <c:pt idx="4">
                  <c:v>≥2.5k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45.4</c:v>
                </c:pt>
                <c:pt idx="1">
                  <c:v>40.1</c:v>
                </c:pt>
                <c:pt idx="2">
                  <c:v>34.5</c:v>
                </c:pt>
                <c:pt idx="3">
                  <c:v>31.7</c:v>
                </c:pt>
                <c:pt idx="4">
                  <c:v>31.7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EB-494F-ACBF-6A9518B8AD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Transformer</c:v>
                </c:pt>
              </c:strCache>
            </c:strRef>
          </c:tx>
          <c:spPr>
            <a:ln>
              <a:solidFill>
                <a:srgbClr val="7297AA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&lt;1k</c:v>
                </c:pt>
                <c:pt idx="1">
                  <c:v>1k-1.5k</c:v>
                </c:pt>
                <c:pt idx="2">
                  <c:v>1.5k-2k</c:v>
                </c:pt>
                <c:pt idx="3">
                  <c:v>2k-2.5k</c:v>
                </c:pt>
                <c:pt idx="4">
                  <c:v>≥2.5k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41.2</c:v>
                </c:pt>
                <c:pt idx="1">
                  <c:v>40</c:v>
                </c:pt>
                <c:pt idx="2">
                  <c:v>36.200000000000003</c:v>
                </c:pt>
                <c:pt idx="3">
                  <c:v>33.4</c:v>
                </c:pt>
                <c:pt idx="4">
                  <c:v>32.9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EB-494F-ACBF-6A9518B8AD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517485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"/>
          <c:min val="2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517485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621865021410527"/>
          <c:y val="4.6612709887567652E-3"/>
          <c:w val="0.2517676953058543"/>
          <c:h val="0.1949804143771158"/>
        </c:manualLayout>
      </c:layout>
      <c:overlay val="0"/>
      <c:txPr>
        <a:bodyPr/>
        <a:lstStyle/>
        <a:p>
          <a:pPr>
            <a:defRPr sz="1400">
              <a:solidFill>
                <a:srgbClr val="FBC67D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9230B0E-39ED-45EA-AD95-669D0616B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82B798-201A-4B14-B1F0-6A660C5C72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2F5857-B39B-4284-A086-C6DE2719C9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3EF34-7656-4396-AEBE-2B554E5E9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82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16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192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79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664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187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308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682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11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14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11" Type="http://schemas.openxmlformats.org/officeDocument/2006/relationships/image" Target="../media/image17.png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16.png"/><Relationship Id="rId4" Type="http://schemas.openxmlformats.org/officeDocument/2006/relationships/image" Target="../media/image2.svg"/><Relationship Id="rId9" Type="http://schemas.openxmlformats.org/officeDocument/2006/relationships/image" Target="../media/image10.png"/><Relationship Id="rId14" Type="http://schemas.openxmlformats.org/officeDocument/2006/relationships/image" Target="../media/image19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2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22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23.pn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18.png"/><Relationship Id="rId4" Type="http://schemas.openxmlformats.org/officeDocument/2006/relationships/image" Target="../media/image2.svg"/><Relationship Id="rId9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19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2.svg"/><Relationship Id="rId9" Type="http://schemas.openxmlformats.org/officeDocument/2006/relationships/image" Target="../media/image19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25.png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20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22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26.png"/><Relationship Id="rId4" Type="http://schemas.openxmlformats.org/officeDocument/2006/relationships/image" Target="../media/image2.svg"/><Relationship Id="rId9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">
            <a:hlinkClick r:id="rId2"/>
            <a:extLst>
              <a:ext uri="{FF2B5EF4-FFF2-40B4-BE49-F238E27FC236}">
                <a16:creationId xmlns:a16="http://schemas.microsoft.com/office/drawing/2014/main" id="{50390000-1305-498A-888A-661FBE7AA5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5"/>
            <a:extLst>
              <a:ext uri="{FF2B5EF4-FFF2-40B4-BE49-F238E27FC236}">
                <a16:creationId xmlns:a16="http://schemas.microsoft.com/office/drawing/2014/main" id="{2D824BC9-6578-4275-86DC-C5E85DDF9B80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3F8741-A6D1-427E-828F-322C1BDAFA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588" y="3441700"/>
            <a:ext cx="8256010" cy="321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">
            <a:hlinkClick r:id="rId2"/>
            <a:extLst>
              <a:ext uri="{FF2B5EF4-FFF2-40B4-BE49-F238E27FC236}">
                <a16:creationId xmlns:a16="http://schemas.microsoft.com/office/drawing/2014/main" id="{996EF3CC-A7AF-4B57-80DC-0BC256742D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5"/>
            <a:extLst>
              <a:ext uri="{FF2B5EF4-FFF2-40B4-BE49-F238E27FC236}">
                <a16:creationId xmlns:a16="http://schemas.microsoft.com/office/drawing/2014/main" id="{F3E53054-D421-4E58-89A5-C742002DB1F9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EDB43A2E-1F4B-49EA-B18B-F145133FC6E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28" y="4761263"/>
            <a:ext cx="925163" cy="176100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A00983E8-D2EB-4F1E-8909-35695C229FD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26" y="5635384"/>
            <a:ext cx="1745049" cy="886880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A514711E-A64E-4E81-8FD3-9B3E3325B3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65665" y="3797818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1ABE73A1-6473-4A26-9631-6A64BC89DA0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316" y="4483715"/>
            <a:ext cx="1097434" cy="714608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93558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">
            <a:hlinkClick r:id="rId2"/>
            <a:extLst>
              <a:ext uri="{FF2B5EF4-FFF2-40B4-BE49-F238E27FC236}">
                <a16:creationId xmlns:a16="http://schemas.microsoft.com/office/drawing/2014/main" id="{931E0B10-E569-4DD8-8D6C-DEA73392B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5"/>
            <a:extLst>
              <a:ext uri="{FF2B5EF4-FFF2-40B4-BE49-F238E27FC236}">
                <a16:creationId xmlns:a16="http://schemas.microsoft.com/office/drawing/2014/main" id="{DD3E2502-5EC2-4557-ADBF-B8E68268FFF2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BD657395-85AF-4936-BFDF-04F0AA77FB8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262" y="5150685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C3AB450D-6A18-4A7A-8976-DA771617B16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292" y="5734921"/>
            <a:ext cx="727370" cy="1052772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DB4089D4-EE38-402B-B1BD-25419300A7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338" y="5734921"/>
            <a:ext cx="727370" cy="1052772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30B45713-136D-4668-B0EC-6338C34618B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41" y="4149383"/>
            <a:ext cx="995348" cy="2111924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3A32342B-23C6-4300-A4E5-092E7423F31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12" y="4149383"/>
            <a:ext cx="995348" cy="2111924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C8158C6B-FBF9-455D-B22F-677EAF4C5C0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18570" y="5150685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18049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A075B32F-7650-4EB0-A397-5FBAEAA008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970F694-88B3-45B8-AF61-3B4F2CDCB30C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D124AC3-7C34-4E42-8066-B15C8324AD2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478" y="5474931"/>
            <a:ext cx="727369" cy="10527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9E6E9F7-9D29-4904-BE75-7CAD7BCE26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32" y="5532354"/>
            <a:ext cx="2150207" cy="995348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1697F68D-5ADC-44C7-9907-5A2979D1A04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26947" y="5637631"/>
            <a:ext cx="1330321" cy="8900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57656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2E7B73A-F0CB-4394-A911-E39F740EEC29}"/>
              </a:ext>
            </a:extLst>
          </p:cNvPr>
          <p:cNvSpPr/>
          <p:nvPr userDrawn="1"/>
        </p:nvSpPr>
        <p:spPr>
          <a:xfrm>
            <a:off x="2667000" y="1581765"/>
            <a:ext cx="6858000" cy="3694470"/>
          </a:xfrm>
          <a:prstGeom prst="rect">
            <a:avLst/>
          </a:prstGeom>
          <a:solidFill>
            <a:srgbClr val="FBC67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400">
              <a:solidFill>
                <a:srgbClr val="02202D"/>
              </a:solidFill>
              <a:latin typeface="+mj-lt"/>
            </a:endParaRPr>
          </a:p>
        </p:txBody>
      </p:sp>
      <p:pic>
        <p:nvPicPr>
          <p:cNvPr id="10" name="Graphic 3">
            <a:hlinkClick r:id="rId2"/>
            <a:extLst>
              <a:ext uri="{FF2B5EF4-FFF2-40B4-BE49-F238E27FC236}">
                <a16:creationId xmlns:a16="http://schemas.microsoft.com/office/drawing/2014/main" id="{CB518F0F-1BF6-4547-B8D7-D5B8AE65E6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5"/>
            <a:extLst>
              <a:ext uri="{FF2B5EF4-FFF2-40B4-BE49-F238E27FC236}">
                <a16:creationId xmlns:a16="http://schemas.microsoft.com/office/drawing/2014/main" id="{847A6C89-AA15-4E5C-9A66-BD9D75343EF9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D18AD94-7D9F-40F4-B5E7-13D27033240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893" y="5736929"/>
            <a:ext cx="1097434" cy="714608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BF16AFD-8217-4DB0-B346-005D65FBCCF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341" y="5084330"/>
            <a:ext cx="896451" cy="125694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5034813-AC8F-4E76-88D2-FA99965BBF0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81" y="572575"/>
            <a:ext cx="995348" cy="2111924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6C1C8DD-B8B8-454D-9DCF-483131CFEBB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614" y="2381847"/>
            <a:ext cx="925163" cy="176100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2334E57-BB1B-4CAC-B91D-5D947F2800C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81" y="4687807"/>
            <a:ext cx="896451" cy="170038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960B2F3-999A-4707-82DE-289DC869EB6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5995" y="3285100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835032B8-BAEC-4375-904C-00393CA5753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74824" y="5285314"/>
            <a:ext cx="1097434" cy="714608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3795B59-9AA6-4D73-92D1-C1611ABED16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566" y="352500"/>
            <a:ext cx="1745048" cy="886880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6137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3">
            <a:hlinkClick r:id="rId2"/>
            <a:extLst>
              <a:ext uri="{FF2B5EF4-FFF2-40B4-BE49-F238E27FC236}">
                <a16:creationId xmlns:a16="http://schemas.microsoft.com/office/drawing/2014/main" id="{2E852A02-D1AB-46D4-8A64-B5972D58D6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0" name="TextBox 9">
            <a:hlinkClick r:id="rId5"/>
            <a:extLst>
              <a:ext uri="{FF2B5EF4-FFF2-40B4-BE49-F238E27FC236}">
                <a16:creationId xmlns:a16="http://schemas.microsoft.com/office/drawing/2014/main" id="{83F0071C-9986-4EAC-9C68-F5B5B5E302A9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1A080079-A941-43C9-93A1-C6649D8326B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20" y="3345395"/>
            <a:ext cx="995348" cy="2111924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3E80E5F-7D49-4563-B3C9-3E9C71B8194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574" y="112982"/>
            <a:ext cx="925163" cy="176100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F8D607AE-8BE4-41C9-8488-AD094EAE66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65"/>
          <a:stretch/>
        </p:blipFill>
        <p:spPr>
          <a:xfrm>
            <a:off x="11063025" y="5416112"/>
            <a:ext cx="1128975" cy="925163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57001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3">
            <a:hlinkClick r:id="rId2"/>
            <a:extLst>
              <a:ext uri="{FF2B5EF4-FFF2-40B4-BE49-F238E27FC236}">
                <a16:creationId xmlns:a16="http://schemas.microsoft.com/office/drawing/2014/main" id="{2EA5C96A-A7CE-4A84-8A28-0B6387AC63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5"/>
            <a:extLst>
              <a:ext uri="{FF2B5EF4-FFF2-40B4-BE49-F238E27FC236}">
                <a16:creationId xmlns:a16="http://schemas.microsoft.com/office/drawing/2014/main" id="{5F4373B8-160C-4BFC-AD6D-6BBBFC4D521F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67CBB3-95D4-476D-9EA6-C273320A846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1873"/>
            <a:ext cx="4366260" cy="348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39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4">
            <a:extLst>
              <a:ext uri="{FF2B5EF4-FFF2-40B4-BE49-F238E27FC236}">
                <a16:creationId xmlns:a16="http://schemas.microsoft.com/office/drawing/2014/main" id="{70D0E821-4D0E-48B8-ADD8-DB86F3E3D76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8582" y="0"/>
            <a:ext cx="4383418" cy="6858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/>
              <a:t>Click icon to add picture</a:t>
            </a:r>
            <a:endParaRPr lang="ko-KR" altLang="en-US"/>
          </a:p>
        </p:txBody>
      </p:sp>
      <p:pic>
        <p:nvPicPr>
          <p:cNvPr id="10" name="Graphic 3">
            <a:hlinkClick r:id="rId2"/>
            <a:extLst>
              <a:ext uri="{FF2B5EF4-FFF2-40B4-BE49-F238E27FC236}">
                <a16:creationId xmlns:a16="http://schemas.microsoft.com/office/drawing/2014/main" id="{9E42D3FD-F263-42DA-B011-A2C902639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5"/>
            <a:extLst>
              <a:ext uri="{FF2B5EF4-FFF2-40B4-BE49-F238E27FC236}">
                <a16:creationId xmlns:a16="http://schemas.microsoft.com/office/drawing/2014/main" id="{F7BC45CF-F60D-4EE6-A40B-73768CC7E180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0ECE967-F52A-4148-A756-0721AB6B8CC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882" y="564178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E955AD4-D9A0-42D4-A839-9ED27463A9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569"/>
          <a:stretch/>
        </p:blipFill>
        <p:spPr>
          <a:xfrm flipH="1">
            <a:off x="-1" y="5285313"/>
            <a:ext cx="1298863" cy="886880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84934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A66E5217-2A20-4722-A130-6BC623C380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3D3C5419-97AF-4C3B-AF92-3D9E5AB78B23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360EBB3-4168-404A-86BD-AC91088E6C6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15" y="4532184"/>
            <a:ext cx="896451" cy="170038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9B03AFE-AAE9-4A81-A8B8-8570217770F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143" y="5585570"/>
            <a:ext cx="727369" cy="10527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EC61F271-CDDD-4ECE-B12E-63B04DA65E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99"/>
          <a:stretch/>
        </p:blipFill>
        <p:spPr>
          <a:xfrm>
            <a:off x="10418047" y="191792"/>
            <a:ext cx="1773954" cy="995348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4988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A4F14017-5439-417B-8EF0-DDC3EA4C89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A93FBA9C-344F-4C17-8BFB-23EFCE0E0C21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FCA80C3-D482-4F08-869B-99D506497F2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00" y="267710"/>
            <a:ext cx="896451" cy="170038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26C57C5-ABC5-4150-9067-0B7AC2C59A9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00661" y="41202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4808649-373C-41AE-8DC1-006B02EFED9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31933" y="5561152"/>
            <a:ext cx="1745048" cy="886880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175E7AE-534B-46CB-A361-4D30D762F52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220163" y="4320655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60776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">
            <a:hlinkClick r:id="rId2"/>
            <a:extLst>
              <a:ext uri="{FF2B5EF4-FFF2-40B4-BE49-F238E27FC236}">
                <a16:creationId xmlns:a16="http://schemas.microsoft.com/office/drawing/2014/main" id="{A86B1C08-4E7A-4660-AC4A-B7C20DB92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5"/>
            <a:extLst>
              <a:ext uri="{FF2B5EF4-FFF2-40B4-BE49-F238E27FC236}">
                <a16:creationId xmlns:a16="http://schemas.microsoft.com/office/drawing/2014/main" id="{E01DF5C3-2FF8-4B23-997C-14AA81873EF5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그림 개체 틀 11">
            <a:extLst>
              <a:ext uri="{FF2B5EF4-FFF2-40B4-BE49-F238E27FC236}">
                <a16:creationId xmlns:a16="http://schemas.microsoft.com/office/drawing/2014/main" id="{1688EB67-45A7-46BA-BB0B-983E011090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468193" y="723085"/>
            <a:ext cx="2563220" cy="5415776"/>
          </a:xfrm>
          <a:prstGeom prst="roundRect">
            <a:avLst>
              <a:gd name="adj" fmla="val 11269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/>
              <a:t>Click icon to add picture</a:t>
            </a:r>
            <a:endParaRPr lang="ko-KR" altLang="en-US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5A0B2824-E018-4025-947A-4779CCAE9D6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204" y="4381751"/>
            <a:ext cx="995348" cy="2111924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E6BBF3D4-740E-4516-B89B-CAA7CB82FDA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360" y="4609508"/>
            <a:ext cx="925163" cy="176100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5641D87-1525-4966-9DBC-B6717BB050A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3346" y="5612475"/>
            <a:ext cx="727369" cy="10527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65C733D7-B430-4B4E-900E-6808DF49539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815" y="3789623"/>
            <a:ext cx="896451" cy="170038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55560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">
            <a:hlinkClick r:id="rId2"/>
            <a:extLst>
              <a:ext uri="{FF2B5EF4-FFF2-40B4-BE49-F238E27FC236}">
                <a16:creationId xmlns:a16="http://schemas.microsoft.com/office/drawing/2014/main" id="{BFE8D37C-033C-4528-B115-D5E8774F55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2" name="TextBox 11">
            <a:hlinkClick r:id="rId5"/>
            <a:extLst>
              <a:ext uri="{FF2B5EF4-FFF2-40B4-BE49-F238E27FC236}">
                <a16:creationId xmlns:a16="http://schemas.microsoft.com/office/drawing/2014/main" id="{BCD84BF7-A75A-482A-B34A-17D27C1D0E71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그림 개체 틀 5">
            <a:extLst>
              <a:ext uri="{FF2B5EF4-FFF2-40B4-BE49-F238E27FC236}">
                <a16:creationId xmlns:a16="http://schemas.microsoft.com/office/drawing/2014/main" id="{7E8BFC80-DC0C-4AEE-A6DC-559E761456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9491" y="945615"/>
            <a:ext cx="6633748" cy="4966769"/>
          </a:xfrm>
          <a:prstGeom prst="roundRect">
            <a:avLst>
              <a:gd name="adj" fmla="val 174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C4990D9-4820-4386-B34D-10115F3B988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4101" y="164440"/>
            <a:ext cx="896451" cy="170038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9C812FB-3F51-455F-A3DB-77F2F936A7F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604" y="4824944"/>
            <a:ext cx="896451" cy="125694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133DE91-1C45-4AEA-972F-BC34C67A90F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395" y="4472317"/>
            <a:ext cx="995348" cy="2111924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CED8806C-3C89-4490-8244-FEEE4BEB4E0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91" y="5983971"/>
            <a:ext cx="1097434" cy="714608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11046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">
            <a:hlinkClick r:id="rId2"/>
            <a:extLst>
              <a:ext uri="{FF2B5EF4-FFF2-40B4-BE49-F238E27FC236}">
                <a16:creationId xmlns:a16="http://schemas.microsoft.com/office/drawing/2014/main" id="{CB1FCB9C-F965-48C8-B254-B23972DAE1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2" name="TextBox 11">
            <a:hlinkClick r:id="rId5"/>
            <a:extLst>
              <a:ext uri="{FF2B5EF4-FFF2-40B4-BE49-F238E27FC236}">
                <a16:creationId xmlns:a16="http://schemas.microsoft.com/office/drawing/2014/main" id="{D38286CF-2060-4FDB-99E0-D4F5D5306EF9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그림 개체 틀 8">
            <a:extLst>
              <a:ext uri="{FF2B5EF4-FFF2-40B4-BE49-F238E27FC236}">
                <a16:creationId xmlns:a16="http://schemas.microsoft.com/office/drawing/2014/main" id="{AB89093E-163D-43F1-8482-E920567402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29060" y="895348"/>
            <a:ext cx="7067557" cy="4608515"/>
          </a:xfrm>
          <a:prstGeom prst="roundRect">
            <a:avLst>
              <a:gd name="adj" fmla="val 684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/>
              <a:t>Click icon to add picture</a:t>
            </a:r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C7C0420-D670-407F-8C8E-4F4B67ECCAE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11" y="3920838"/>
            <a:ext cx="995348" cy="2111924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D2B2EA6F-3870-4B1A-BBC3-F770CDBA4C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945" y="4432700"/>
            <a:ext cx="727369" cy="10527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9AF04D9-1110-4ACF-A76D-6B8F9721A9B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40" y="5672268"/>
            <a:ext cx="1745048" cy="886880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545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1118F3B6-1363-4E55-BD13-CFA98F6C73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D476022F-368F-4F99-A4B6-29646EF55B7F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12D1B0E-446B-4372-91C1-0AA35FBF671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26" y="4422255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4B6B9F2-C25A-4B62-93FF-5820C78DDCC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557" y="4422255"/>
            <a:ext cx="925163" cy="176100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1B1998A9-2A1B-467E-909C-0FC92838E33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17" y="5563800"/>
            <a:ext cx="2150207" cy="995348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10883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3">
            <a:hlinkClick r:id="rId2"/>
            <a:extLst>
              <a:ext uri="{FF2B5EF4-FFF2-40B4-BE49-F238E27FC236}">
                <a16:creationId xmlns:a16="http://schemas.microsoft.com/office/drawing/2014/main" id="{2EDAAC99-D76A-4931-BA64-E592009BB8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9" name="TextBox 8">
            <a:hlinkClick r:id="rId5"/>
            <a:extLst>
              <a:ext uri="{FF2B5EF4-FFF2-40B4-BE49-F238E27FC236}">
                <a16:creationId xmlns:a16="http://schemas.microsoft.com/office/drawing/2014/main" id="{E49B9843-598F-49C0-B73A-1AFA060DBA55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AEEA3F0-A9E4-4119-B7DC-E5452996524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880" y="4080533"/>
            <a:ext cx="896451" cy="125694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57E3765-BCD3-4F85-8341-7B467AB0DEE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23" y="354988"/>
            <a:ext cx="1097434" cy="714608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8360F05-5F3F-4110-9AF2-7F401290E1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68832" y="5636728"/>
            <a:ext cx="1745048" cy="886880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D92861D-80C7-4546-8E58-08D8110951B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66" y="417650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3179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14112724-A9F4-4CFA-A6F6-529662F904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CBEFB2DA-C848-49FD-AEB4-32CFA5D4D0B3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A5AB6A39-ED1B-490D-9D65-3025F033D79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08" y="4129252"/>
            <a:ext cx="896451" cy="170038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982B37E-4C73-4973-97B6-E971BB07F1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26"/>
          <a:stretch/>
        </p:blipFill>
        <p:spPr>
          <a:xfrm>
            <a:off x="11440470" y="2728747"/>
            <a:ext cx="751530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3E45A103-AAB8-4DD6-8ED3-A166A85ADE7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23" y="5688945"/>
            <a:ext cx="2150207" cy="995348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1B92F573-0D04-4E57-A3DD-A0DF406A8F7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01373" y="112982"/>
            <a:ext cx="1802472" cy="925163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90935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F1E76432-7379-45BE-949C-9E12C90B32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390558A1-86FE-408A-92D9-D5CCA2DF379B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DB22C5E-CD81-4C25-A421-DAD6EB41976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1737" y="2658031"/>
            <a:ext cx="995348" cy="2111924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9082247-F57A-4BE7-A6D9-DF3C396CB68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51" y="3863815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9E68CAB2-6517-49B2-A91A-D2B970CAA0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35"/>
          <a:stretch/>
        </p:blipFill>
        <p:spPr>
          <a:xfrm>
            <a:off x="8010396" y="6087665"/>
            <a:ext cx="1802472" cy="77033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71053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50914BBE-FA25-45A5-8064-A3454E6C0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2035979E-C6A6-428F-AC6A-0983F12B8FC6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3E50B28-818E-42DE-9C96-C57C4BA781E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566" y="3807306"/>
            <a:ext cx="896451" cy="125694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3328291-F317-4B07-8892-C69E8CA02F4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83" y="3879497"/>
            <a:ext cx="896451" cy="170038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AEC1192E-445E-4A10-A592-81A30AF1C56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915" y="5617143"/>
            <a:ext cx="2150207" cy="995348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94337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DBCD9F9E-E1F3-41EE-811C-EDD29A92D7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EB832293-AB9D-432B-B3A8-5A042FE6EE79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357D53D-8AB0-44D6-96AD-4021F3BA94C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44" y="5292648"/>
            <a:ext cx="1745048" cy="886880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F3CF9A23-21ED-4EA6-8034-ED92EBA1AF1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9" y="3958747"/>
            <a:ext cx="896451" cy="125694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D9D6A739-2E3C-4538-BEAB-BE15FB81F9E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644" y="5653142"/>
            <a:ext cx="727369" cy="10527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FF0C19EF-6C1D-4CB1-97CF-2E709CAE3C0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528" y="5503642"/>
            <a:ext cx="727369" cy="10527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20810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006C4E94-01EA-4629-81D0-35F00FA7F6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8" name="TextBox 7">
            <a:hlinkClick r:id="rId5"/>
            <a:extLst>
              <a:ext uri="{FF2B5EF4-FFF2-40B4-BE49-F238E27FC236}">
                <a16:creationId xmlns:a16="http://schemas.microsoft.com/office/drawing/2014/main" id="{25D6735B-1128-461A-B13D-5410AFDCE2AE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7696981-A04D-46D1-B6E3-91C38577528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437" y="4758927"/>
            <a:ext cx="727369" cy="10527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144F081-6DBD-4897-9330-B582DE093BC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14" y="4656840"/>
            <a:ext cx="896451" cy="1256946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AD0953E-A312-4A8A-B8BA-C25F86949E2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068" y="5506376"/>
            <a:ext cx="727369" cy="10527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27484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3">
            <a:hlinkClick r:id="rId2"/>
            <a:extLst>
              <a:ext uri="{FF2B5EF4-FFF2-40B4-BE49-F238E27FC236}">
                <a16:creationId xmlns:a16="http://schemas.microsoft.com/office/drawing/2014/main" id="{71D7C885-7EC6-4AD5-9B61-3B720F829F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11" name="TextBox 10">
            <a:hlinkClick r:id="rId5"/>
            <a:extLst>
              <a:ext uri="{FF2B5EF4-FFF2-40B4-BE49-F238E27FC236}">
                <a16:creationId xmlns:a16="http://schemas.microsoft.com/office/drawing/2014/main" id="{E703371C-89F9-49A3-82DA-A3E5666170D5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7A0ED91-5A9D-4258-B5E2-DD60B254894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557" y="5589322"/>
            <a:ext cx="1745049" cy="886880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9FDB981-F186-4C18-A69F-814EF1CCE5F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1737" y="4979991"/>
            <a:ext cx="727369" cy="10527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0DD2E4D3-B26E-42AD-B63A-10CC4F51DEA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26" y="4616427"/>
            <a:ext cx="858168" cy="1400505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FD2058F5-2FDA-4180-9AA5-24105A16FF6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8604" y="5589322"/>
            <a:ext cx="1330321" cy="890071"/>
          </a:xfrm>
          <a:prstGeom prst="rect">
            <a:avLst/>
          </a:prstGeom>
          <a:effectLst>
            <a:reflection blurRad="25400" stA="27000" endPos="33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27545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3">
            <a:hlinkClick r:id="rId2"/>
            <a:extLst>
              <a:ext uri="{FF2B5EF4-FFF2-40B4-BE49-F238E27FC236}">
                <a16:creationId xmlns:a16="http://schemas.microsoft.com/office/drawing/2014/main" id="{4E1B4497-03AF-44F5-BC5E-C82863B0D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6" name="TextBox 5">
            <a:hlinkClick r:id="rId5"/>
            <a:extLst>
              <a:ext uri="{FF2B5EF4-FFF2-40B4-BE49-F238E27FC236}">
                <a16:creationId xmlns:a16="http://schemas.microsoft.com/office/drawing/2014/main" id="{388B851A-E431-41E6-AA28-110E1EC8AE7E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65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hlinkClick r:id="rId2"/>
            <a:extLst>
              <a:ext uri="{FF2B5EF4-FFF2-40B4-BE49-F238E27FC236}">
                <a16:creationId xmlns:a16="http://schemas.microsoft.com/office/drawing/2014/main" id="{6B90E1DB-A6B0-4B2D-8128-AE80C82823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5771192" y="6889718"/>
            <a:ext cx="2239204" cy="246221"/>
          </a:xfrm>
          <a:prstGeom prst="rect">
            <a:avLst/>
          </a:prstGeom>
        </p:spPr>
      </p:pic>
      <p:sp>
        <p:nvSpPr>
          <p:cNvPr id="7" name="TextBox 6">
            <a:hlinkClick r:id="rId5"/>
            <a:extLst>
              <a:ext uri="{FF2B5EF4-FFF2-40B4-BE49-F238E27FC236}">
                <a16:creationId xmlns:a16="http://schemas.microsoft.com/office/drawing/2014/main" id="{21F8B824-5A60-4FA7-9FD6-69EBC1A26066}"/>
              </a:ext>
            </a:extLst>
          </p:cNvPr>
          <p:cNvSpPr txBox="1"/>
          <p:nvPr userDrawn="1"/>
        </p:nvSpPr>
        <p:spPr>
          <a:xfrm>
            <a:off x="4181605" y="6945439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687" r:id="rId22"/>
    <p:sldLayoutId id="2147483664" r:id="rId2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10" Type="http://schemas.microsoft.com/office/2007/relationships/hdphoto" Target="../media/hdphoto2.wdp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microsoft.com/office/2007/relationships/hdphoto" Target="../media/hdphoto2.wdp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Relationship Id="rId6" Type="http://schemas.microsoft.com/office/2007/relationships/hdphoto" Target="../media/hdphoto2.wdp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microsoft.com/office/2007/relationships/hdphoto" Target="../media/hdphoto5.wdp"/><Relationship Id="rId3" Type="http://schemas.openxmlformats.org/officeDocument/2006/relationships/image" Target="../media/image33.png"/><Relationship Id="rId7" Type="http://schemas.microsoft.com/office/2007/relationships/hdphoto" Target="../media/hdphoto2.wdp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3.png"/><Relationship Id="rId7" Type="http://schemas.microsoft.com/office/2007/relationships/hdphoto" Target="../media/hdphoto3.wdp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microsoft.com/office/2007/relationships/hdphoto" Target="../media/hdphoto4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7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microsoft.com/office/2007/relationships/hdphoto" Target="../media/hdphoto4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microsoft.com/office/2007/relationships/hdphoto" Target="../media/hdphoto2.wdp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5" Type="http://schemas.openxmlformats.org/officeDocument/2006/relationships/image" Target="../media/image34.png"/><Relationship Id="rId4" Type="http://schemas.microsoft.com/office/2007/relationships/hdphoto" Target="../media/hdphoto2.wdp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6" Type="http://schemas.microsoft.com/office/2007/relationships/hdphoto" Target="../media/hdphoto3.wdp"/><Relationship Id="rId11" Type="http://schemas.microsoft.com/office/2007/relationships/hdphoto" Target="../media/hdphoto1.wdp"/><Relationship Id="rId5" Type="http://schemas.openxmlformats.org/officeDocument/2006/relationships/image" Target="../media/image34.png"/><Relationship Id="rId10" Type="http://schemas.openxmlformats.org/officeDocument/2006/relationships/image" Target="../media/image31.png"/><Relationship Id="rId4" Type="http://schemas.microsoft.com/office/2007/relationships/hdphoto" Target="../media/hdphoto2.wdp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11" Type="http://schemas.openxmlformats.org/officeDocument/2006/relationships/image" Target="../media/image31.png"/><Relationship Id="rId5" Type="http://schemas.openxmlformats.org/officeDocument/2006/relationships/image" Target="../media/image34.png"/><Relationship Id="rId10" Type="http://schemas.openxmlformats.org/officeDocument/2006/relationships/chart" Target="../charts/chart1.xml"/><Relationship Id="rId4" Type="http://schemas.microsoft.com/office/2007/relationships/hdphoto" Target="../media/hdphoto2.wdp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3.png"/><Relationship Id="rId7" Type="http://schemas.microsoft.com/office/2007/relationships/hdphoto" Target="../media/hdphoto3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png"/><Relationship Id="rId11" Type="http://schemas.openxmlformats.org/officeDocument/2006/relationships/chart" Target="../charts/chart3.xml"/><Relationship Id="rId5" Type="http://schemas.microsoft.com/office/2007/relationships/hdphoto" Target="../media/hdphoto2.wdp"/><Relationship Id="rId10" Type="http://schemas.openxmlformats.org/officeDocument/2006/relationships/chart" Target="../charts/chart2.xml"/><Relationship Id="rId4" Type="http://schemas.openxmlformats.org/officeDocument/2006/relationships/image" Target="../media/image32.png"/><Relationship Id="rId9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chart" Target="../charts/chart6.xml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chart" Target="../charts/chart5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11" Type="http://schemas.openxmlformats.org/officeDocument/2006/relationships/chart" Target="../charts/chart4.xml"/><Relationship Id="rId5" Type="http://schemas.openxmlformats.org/officeDocument/2006/relationships/image" Target="../media/image34.png"/><Relationship Id="rId10" Type="http://schemas.microsoft.com/office/2007/relationships/hdphoto" Target="../media/hdphoto1.wdp"/><Relationship Id="rId4" Type="http://schemas.microsoft.com/office/2007/relationships/hdphoto" Target="../media/hdphoto2.wdp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chart" Target="../charts/chart9.xml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chart" Target="../charts/chart8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microsoft.com/office/2007/relationships/hdphoto" Target="../media/hdphoto3.wdp"/><Relationship Id="rId11" Type="http://schemas.openxmlformats.org/officeDocument/2006/relationships/chart" Target="../charts/chart7.xml"/><Relationship Id="rId5" Type="http://schemas.openxmlformats.org/officeDocument/2006/relationships/image" Target="../media/image34.png"/><Relationship Id="rId10" Type="http://schemas.microsoft.com/office/2007/relationships/hdphoto" Target="../media/hdphoto1.wdp"/><Relationship Id="rId4" Type="http://schemas.microsoft.com/office/2007/relationships/hdphoto" Target="../media/hdphoto2.wdp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chart" Target="../charts/chart1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microsoft.com/office/2007/relationships/hdphoto" Target="../media/hdphoto3.wdp"/><Relationship Id="rId11" Type="http://schemas.openxmlformats.org/officeDocument/2006/relationships/chart" Target="../charts/chart10.xml"/><Relationship Id="rId5" Type="http://schemas.openxmlformats.org/officeDocument/2006/relationships/image" Target="../media/image34.png"/><Relationship Id="rId10" Type="http://schemas.microsoft.com/office/2007/relationships/hdphoto" Target="../media/hdphoto1.wdp"/><Relationship Id="rId4" Type="http://schemas.microsoft.com/office/2007/relationships/hdphoto" Target="../media/hdphoto2.wdp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47F0F6-B4C4-A75A-C3EE-419BBED183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02202D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99FF1-D7C5-D610-0B40-E61A57A81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8653371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E16277-C01A-4C72-9391-D8193925C807}"/>
              </a:ext>
            </a:extLst>
          </p:cNvPr>
          <p:cNvSpPr txBox="1"/>
          <p:nvPr/>
        </p:nvSpPr>
        <p:spPr>
          <a:xfrm>
            <a:off x="807354" y="1107119"/>
            <a:ext cx="837093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BC67D"/>
                </a:solidFill>
                <a:latin typeface="Amasis MT Pro Medium" panose="020F0502020204030204" pitchFamily="18" charset="0"/>
              </a:rPr>
              <a:t>Architectural </a:t>
            </a:r>
            <a:r>
              <a:rPr lang="en-US" sz="3600" dirty="0">
                <a:solidFill>
                  <a:srgbClr val="FBC67D"/>
                </a:solidFill>
                <a:latin typeface="Amasis MT Pro Medium" panose="02040604050005020304" pitchFamily="18" charset="0"/>
              </a:rPr>
              <a:t>Inductive</a:t>
            </a:r>
            <a:r>
              <a:rPr lang="en-US" sz="3600" dirty="0">
                <a:solidFill>
                  <a:srgbClr val="FBC67D"/>
                </a:solidFill>
                <a:latin typeface="Amasis MT Pro Medium" panose="020F0502020204030204" pitchFamily="18" charset="0"/>
              </a:rPr>
              <a:t> Biases </a:t>
            </a:r>
          </a:p>
          <a:p>
            <a:r>
              <a:rPr lang="en-US" sz="3600" dirty="0">
                <a:solidFill>
                  <a:srgbClr val="FBC67D"/>
                </a:solidFill>
                <a:latin typeface="Amasis MT Pro Medium" panose="020F0502020204030204" pitchFamily="18" charset="0"/>
              </a:rPr>
              <a:t>Shape Chess Intelligence: </a:t>
            </a:r>
          </a:p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CNNs Learn Tactics, Transformers Learn Strategy</a:t>
            </a:r>
          </a:p>
          <a:p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Rami Abu Mukh, Omar Garah &amp; Ameer </a:t>
            </a:r>
            <a:r>
              <a:rPr lang="en-US" altLang="ko-KR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Khalaily</a:t>
            </a:r>
            <a:endParaRPr lang="ko-KR" altLang="en-US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ko-KR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직사각형 18">
            <a:extLst>
              <a:ext uri="{FF2B5EF4-FFF2-40B4-BE49-F238E27FC236}">
                <a16:creationId xmlns:a16="http://schemas.microsoft.com/office/drawing/2014/main" id="{D52F6346-0C98-F82A-B797-2CF038899B31}"/>
              </a:ext>
            </a:extLst>
          </p:cNvPr>
          <p:cNvSpPr/>
          <p:nvPr/>
        </p:nvSpPr>
        <p:spPr>
          <a:xfrm>
            <a:off x="-18380581" y="1681649"/>
            <a:ext cx="2503176" cy="3135086"/>
          </a:xfrm>
          <a:prstGeom prst="rect">
            <a:avLst/>
          </a:prstGeom>
          <a:solidFill>
            <a:srgbClr val="FBC67D">
              <a:alpha val="89000"/>
            </a:srgbClr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02202D"/>
              </a:solidFill>
              <a:latin typeface="+mj-lt"/>
            </a:endParaRPr>
          </a:p>
        </p:txBody>
      </p:sp>
      <p:sp>
        <p:nvSpPr>
          <p:cNvPr id="18" name="직사각형 30">
            <a:extLst>
              <a:ext uri="{FF2B5EF4-FFF2-40B4-BE49-F238E27FC236}">
                <a16:creationId xmlns:a16="http://schemas.microsoft.com/office/drawing/2014/main" id="{FFFB93E2-73E1-D7E6-D904-D517EBD85258}"/>
              </a:ext>
            </a:extLst>
          </p:cNvPr>
          <p:cNvSpPr/>
          <p:nvPr/>
        </p:nvSpPr>
        <p:spPr>
          <a:xfrm>
            <a:off x="-18375125" y="1691406"/>
            <a:ext cx="2503176" cy="3135086"/>
          </a:xfrm>
          <a:prstGeom prst="rect">
            <a:avLst/>
          </a:prstGeom>
          <a:solidFill>
            <a:srgbClr val="FBC67D">
              <a:alpha val="89000"/>
            </a:srgbClr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02202D"/>
              </a:solidFill>
              <a:latin typeface="+mj-lt"/>
            </a:endParaRPr>
          </a:p>
        </p:txBody>
      </p:sp>
      <p:sp>
        <p:nvSpPr>
          <p:cNvPr id="19" name="직사각형 42">
            <a:extLst>
              <a:ext uri="{FF2B5EF4-FFF2-40B4-BE49-F238E27FC236}">
                <a16:creationId xmlns:a16="http://schemas.microsoft.com/office/drawing/2014/main" id="{8A6256E6-EBE4-9019-4899-8BD77EE4B9CB}"/>
              </a:ext>
            </a:extLst>
          </p:cNvPr>
          <p:cNvSpPr/>
          <p:nvPr/>
        </p:nvSpPr>
        <p:spPr>
          <a:xfrm>
            <a:off x="-18386037" y="1684182"/>
            <a:ext cx="2503176" cy="3135086"/>
          </a:xfrm>
          <a:prstGeom prst="rect">
            <a:avLst/>
          </a:prstGeom>
          <a:solidFill>
            <a:srgbClr val="FBC67D">
              <a:alpha val="89000"/>
            </a:srgbClr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02202D"/>
              </a:solidFill>
              <a:latin typeface="+mj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4CCE05-8B95-6621-0E5D-3AC35BBBF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184671" y="2550561"/>
            <a:ext cx="2111356" cy="2106594"/>
          </a:xfrm>
          <a:prstGeom prst="rect">
            <a:avLst/>
          </a:prstGeom>
          <a:ln w="25400">
            <a:solidFill>
              <a:srgbClr val="02202D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5CBCDC-F4E7-9F2A-5855-DD279AC5F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8150254" y="2557304"/>
            <a:ext cx="2094002" cy="2105123"/>
          </a:xfrm>
          <a:prstGeom prst="rect">
            <a:avLst/>
          </a:prstGeom>
          <a:ln w="25400">
            <a:solidFill>
              <a:srgbClr val="02202D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DFD2A61-FD9E-A5B3-307B-9A357D6F32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8193818" y="2550080"/>
            <a:ext cx="2089290" cy="2098780"/>
          </a:xfrm>
          <a:prstGeom prst="rect">
            <a:avLst/>
          </a:prstGeom>
          <a:ln w="25400">
            <a:solidFill>
              <a:srgbClr val="02202D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45A845F-DBD3-33C6-BD6F-750D37E791CD}"/>
              </a:ext>
            </a:extLst>
          </p:cNvPr>
          <p:cNvSpPr txBox="1"/>
          <p:nvPr/>
        </p:nvSpPr>
        <p:spPr>
          <a:xfrm>
            <a:off x="-18303304" y="1737056"/>
            <a:ext cx="1799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✓</a:t>
            </a:r>
          </a:p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1B02AF-3B0D-26E2-53D8-44767BDF0511}"/>
              </a:ext>
            </a:extLst>
          </p:cNvPr>
          <p:cNvSpPr txBox="1"/>
          <p:nvPr/>
        </p:nvSpPr>
        <p:spPr>
          <a:xfrm>
            <a:off x="-18253423" y="1764434"/>
            <a:ext cx="1923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X</a:t>
            </a:r>
          </a:p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1C1183-F616-D20D-0F1E-9F569A334291}"/>
              </a:ext>
            </a:extLst>
          </p:cNvPr>
          <p:cNvSpPr txBox="1"/>
          <p:nvPr/>
        </p:nvSpPr>
        <p:spPr>
          <a:xfrm>
            <a:off x="-18303304" y="1777262"/>
            <a:ext cx="2308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85.3%</a:t>
            </a:r>
          </a:p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53.9%</a:t>
            </a:r>
          </a:p>
        </p:txBody>
      </p:sp>
    </p:spTree>
    <p:extLst>
      <p:ext uri="{BB962C8B-B14F-4D97-AF65-F5344CB8AC3E}">
        <p14:creationId xmlns:p14="http://schemas.microsoft.com/office/powerpoint/2010/main" val="2913447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9E77-62D8-F4AC-6054-742D709C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6DFC15-07C1-9244-D601-D1B81502640E}"/>
              </a:ext>
            </a:extLst>
          </p:cNvPr>
          <p:cNvSpPr/>
          <p:nvPr/>
        </p:nvSpPr>
        <p:spPr>
          <a:xfrm>
            <a:off x="-8001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02202D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6D12B4-13A1-A957-695D-682B34F2A160}"/>
              </a:ext>
            </a:extLst>
          </p:cNvPr>
          <p:cNvSpPr txBox="1"/>
          <p:nvPr/>
        </p:nvSpPr>
        <p:spPr>
          <a:xfrm>
            <a:off x="1977248" y="856130"/>
            <a:ext cx="82375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Same Training, Different Intelligence</a:t>
            </a:r>
          </a:p>
          <a:p>
            <a:pPr algn="ctr"/>
            <a: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data. Same training. Opposite strengths. How?</a:t>
            </a:r>
            <a:endParaRPr lang="ko-KR" altLang="en-US" sz="1600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F3A352-1F49-2700-F131-EF61F291859D}"/>
              </a:ext>
            </a:extLst>
          </p:cNvPr>
          <p:cNvSpPr/>
          <p:nvPr/>
        </p:nvSpPr>
        <p:spPr>
          <a:xfrm>
            <a:off x="2313735" y="2117271"/>
            <a:ext cx="2503176" cy="3135086"/>
          </a:xfrm>
          <a:prstGeom prst="rect">
            <a:avLst/>
          </a:prstGeom>
          <a:solidFill>
            <a:srgbClr val="FBC67D">
              <a:alpha val="89000"/>
            </a:srgbClr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02202D"/>
              </a:solidFill>
              <a:latin typeface="+mj-lt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027C0AD-8D06-581B-12CA-24324ED93DB1}"/>
              </a:ext>
            </a:extLst>
          </p:cNvPr>
          <p:cNvSpPr/>
          <p:nvPr/>
        </p:nvSpPr>
        <p:spPr>
          <a:xfrm>
            <a:off x="5012656" y="2117271"/>
            <a:ext cx="2503176" cy="3135086"/>
          </a:xfrm>
          <a:prstGeom prst="rect">
            <a:avLst/>
          </a:prstGeom>
          <a:solidFill>
            <a:srgbClr val="FBC67D">
              <a:alpha val="89000"/>
            </a:srgbClr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02202D"/>
              </a:solidFill>
              <a:latin typeface="+mj-lt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A90A69D-20A1-8A74-E180-FBBCBF7077B1}"/>
              </a:ext>
            </a:extLst>
          </p:cNvPr>
          <p:cNvSpPr/>
          <p:nvPr/>
        </p:nvSpPr>
        <p:spPr>
          <a:xfrm>
            <a:off x="7711577" y="2117271"/>
            <a:ext cx="2503176" cy="3135086"/>
          </a:xfrm>
          <a:prstGeom prst="rect">
            <a:avLst/>
          </a:prstGeom>
          <a:solidFill>
            <a:srgbClr val="FBC67D">
              <a:alpha val="89000"/>
            </a:srgbClr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02202D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8BDB5-0B9D-2C49-8D76-B343758AB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645" y="2986183"/>
            <a:ext cx="2111356" cy="2106594"/>
          </a:xfrm>
          <a:prstGeom prst="rect">
            <a:avLst/>
          </a:prstGeom>
          <a:ln w="25400">
            <a:solidFill>
              <a:srgbClr val="02202D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BC2ECF-258E-76B3-0380-A35647AD1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527" y="2983169"/>
            <a:ext cx="2094002" cy="2105123"/>
          </a:xfrm>
          <a:prstGeom prst="rect">
            <a:avLst/>
          </a:prstGeom>
          <a:ln w="25400">
            <a:solidFill>
              <a:srgbClr val="02202D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930227-A007-805F-D3E1-EF0C7AEE5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796" y="2983169"/>
            <a:ext cx="2089290" cy="2098780"/>
          </a:xfrm>
          <a:prstGeom prst="rect">
            <a:avLst/>
          </a:prstGeom>
          <a:ln w="25400">
            <a:solidFill>
              <a:srgbClr val="02202D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D90CEC-0954-CA46-4EFF-1B7E63820D7C}"/>
              </a:ext>
            </a:extLst>
          </p:cNvPr>
          <p:cNvSpPr txBox="1"/>
          <p:nvPr/>
        </p:nvSpPr>
        <p:spPr>
          <a:xfrm>
            <a:off x="2391012" y="2172678"/>
            <a:ext cx="1799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✓</a:t>
            </a:r>
          </a:p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8DFD4-EF73-9BD2-AC6B-364A4AD51B58}"/>
              </a:ext>
            </a:extLst>
          </p:cNvPr>
          <p:cNvSpPr txBox="1"/>
          <p:nvPr/>
        </p:nvSpPr>
        <p:spPr>
          <a:xfrm>
            <a:off x="5134358" y="2190299"/>
            <a:ext cx="1923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X</a:t>
            </a:r>
          </a:p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CF24F1-6AA9-F284-EC96-C314B0061148}"/>
              </a:ext>
            </a:extLst>
          </p:cNvPr>
          <p:cNvSpPr txBox="1"/>
          <p:nvPr/>
        </p:nvSpPr>
        <p:spPr>
          <a:xfrm>
            <a:off x="7794310" y="2210351"/>
            <a:ext cx="2308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85.3%</a:t>
            </a:r>
          </a:p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53.9%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9D3E0-6DA9-4C14-C296-FE54FE713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3365576"/>
            <a:ext cx="8653371" cy="342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B14B49-05C2-9D15-0C4B-20BDA190F4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56" b="99390" l="9259" r="89815">
                        <a14:foregroundMark x1="87963" y1="70122" x2="45370" y2="83537"/>
                        <a14:foregroundMark x1="45370" y1="83537" x2="27778" y2="9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67097" y="3442259"/>
            <a:ext cx="1392549" cy="21146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CF962B-F3C9-1525-AF73-1855F8FFD3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>
            <a:off x="-80010" y="5645067"/>
            <a:ext cx="2599047" cy="121293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6F4F72E-31F0-10E8-9195-93E15E7903CD}"/>
              </a:ext>
            </a:extLst>
          </p:cNvPr>
          <p:cNvCxnSpPr>
            <a:cxnSpLocks/>
          </p:cNvCxnSpPr>
          <p:nvPr/>
        </p:nvCxnSpPr>
        <p:spPr>
          <a:xfrm>
            <a:off x="2785145" y="1761688"/>
            <a:ext cx="6652470" cy="0"/>
          </a:xfrm>
          <a:prstGeom prst="line">
            <a:avLst/>
          </a:prstGeom>
          <a:ln>
            <a:solidFill>
              <a:srgbClr val="FBC6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D8D0199-9865-5DA1-25BC-FFD92EFA27BC}"/>
              </a:ext>
            </a:extLst>
          </p:cNvPr>
          <p:cNvSpPr txBox="1"/>
          <p:nvPr/>
        </p:nvSpPr>
        <p:spPr>
          <a:xfrm>
            <a:off x="-10754726" y="1375586"/>
            <a:ext cx="4272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ko-KR" sz="2800">
                <a:solidFill>
                  <a:srgbClr val="FBC67D"/>
                </a:solidFill>
                <a:latin typeface="Amasis MT Pro Medium" panose="02040604050005020304" pitchFamily="18" charset="0"/>
              </a:rPr>
              <a:t>The AlphaZero Legacy</a:t>
            </a:r>
            <a:endParaRPr lang="ko-KR" altLang="en-US" sz="280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2AB88A-091D-C922-1027-3C3A6B099B65}"/>
              </a:ext>
            </a:extLst>
          </p:cNvPr>
          <p:cNvCxnSpPr>
            <a:cxnSpLocks/>
          </p:cNvCxnSpPr>
          <p:nvPr/>
        </p:nvCxnSpPr>
        <p:spPr>
          <a:xfrm>
            <a:off x="-10754726" y="2064641"/>
            <a:ext cx="6652470" cy="0"/>
          </a:xfrm>
          <a:prstGeom prst="line">
            <a:avLst/>
          </a:prstGeom>
          <a:ln>
            <a:solidFill>
              <a:srgbClr val="FBC6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B9D2902-0AEA-5163-AB4E-2E3348628640}"/>
              </a:ext>
            </a:extLst>
          </p:cNvPr>
          <p:cNvSpPr txBox="1"/>
          <p:nvPr/>
        </p:nvSpPr>
        <p:spPr>
          <a:xfrm>
            <a:off x="-10319333" y="2268358"/>
            <a:ext cx="8992998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AlphaZero (2017) : Superhuman chess using deep CNNs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CNNs became the dominant paradigm for chess engines</a:t>
            </a:r>
            <a:endParaRPr lang="ko-KR" altLang="en-US" sz="2000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AlphaZero authors noted: "CNNs may struggle with long-range dependencies"</a:t>
            </a:r>
            <a:endParaRPr lang="ko-KR" altLang="en-US" sz="2000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098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FB36-83B4-C260-9315-C9A20661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56DBA6-D8D1-20D7-8F8F-CE5B555C43E3}"/>
              </a:ext>
            </a:extLst>
          </p:cNvPr>
          <p:cNvSpPr/>
          <p:nvPr/>
        </p:nvSpPr>
        <p:spPr>
          <a:xfrm>
            <a:off x="-8001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02202D"/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EBAF0-E53D-721A-DE1D-CC9C0E2D0C9E}"/>
              </a:ext>
            </a:extLst>
          </p:cNvPr>
          <p:cNvSpPr txBox="1"/>
          <p:nvPr/>
        </p:nvSpPr>
        <p:spPr>
          <a:xfrm>
            <a:off x="932098" y="988743"/>
            <a:ext cx="4272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ko-KR" sz="2800">
                <a:solidFill>
                  <a:srgbClr val="FBC67D"/>
                </a:solidFill>
                <a:latin typeface="Amasis MT Pro Medium" panose="02040604050005020304" pitchFamily="18" charset="0"/>
              </a:rPr>
              <a:t>The AlphaZero Legacy</a:t>
            </a:r>
            <a:endParaRPr lang="ko-KR" altLang="en-US" sz="280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0ED0B-758D-47E3-8401-E6AC8D6780D7}"/>
              </a:ext>
            </a:extLst>
          </p:cNvPr>
          <p:cNvSpPr txBox="1"/>
          <p:nvPr/>
        </p:nvSpPr>
        <p:spPr>
          <a:xfrm>
            <a:off x="306202" y="365079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rgbClr val="7297AA"/>
                </a:solidFill>
                <a:latin typeface="Amasis MT Pro Medium" panose="02040604050005020304" pitchFamily="18" charset="0"/>
              </a:rPr>
              <a:t>Can Transformers do better?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5600B4-C127-727A-68B2-ACD8C226A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509" y="4269522"/>
            <a:ext cx="1300968" cy="145708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2BA164-8301-0980-2909-428FC11B31ED}"/>
              </a:ext>
            </a:extLst>
          </p:cNvPr>
          <p:cNvCxnSpPr>
            <a:cxnSpLocks/>
          </p:cNvCxnSpPr>
          <p:nvPr/>
        </p:nvCxnSpPr>
        <p:spPr>
          <a:xfrm>
            <a:off x="932098" y="1677798"/>
            <a:ext cx="6652470" cy="0"/>
          </a:xfrm>
          <a:prstGeom prst="line">
            <a:avLst/>
          </a:prstGeom>
          <a:ln>
            <a:solidFill>
              <a:srgbClr val="FBC6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82440C-D93B-3FAD-1A11-A185C720E9D4}"/>
              </a:ext>
            </a:extLst>
          </p:cNvPr>
          <p:cNvSpPr txBox="1"/>
          <p:nvPr/>
        </p:nvSpPr>
        <p:spPr>
          <a:xfrm>
            <a:off x="1367491" y="1881515"/>
            <a:ext cx="8992998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AlphaZero (2017) : Superhuman chess using deep CNNs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CNNs became the dominant paradigm for chess engines</a:t>
            </a:r>
            <a:endParaRPr lang="ko-KR" altLang="en-US" sz="2000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AlphaZero authors noted: "CNNs may struggle with long-range dependencies"</a:t>
            </a:r>
            <a:endParaRPr lang="ko-KR" altLang="en-US" sz="2000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직사각형 18">
            <a:extLst>
              <a:ext uri="{FF2B5EF4-FFF2-40B4-BE49-F238E27FC236}">
                <a16:creationId xmlns:a16="http://schemas.microsoft.com/office/drawing/2014/main" id="{A8453274-D608-F34B-DA01-59ADA01A4849}"/>
              </a:ext>
            </a:extLst>
          </p:cNvPr>
          <p:cNvSpPr/>
          <p:nvPr/>
        </p:nvSpPr>
        <p:spPr>
          <a:xfrm>
            <a:off x="24228397" y="1511179"/>
            <a:ext cx="2503176" cy="3135086"/>
          </a:xfrm>
          <a:prstGeom prst="rect">
            <a:avLst/>
          </a:prstGeom>
          <a:solidFill>
            <a:srgbClr val="FBC67D">
              <a:alpha val="89000"/>
            </a:srgbClr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02202D"/>
              </a:solidFill>
              <a:latin typeface="+mj-lt"/>
            </a:endParaRPr>
          </a:p>
        </p:txBody>
      </p:sp>
      <p:sp>
        <p:nvSpPr>
          <p:cNvPr id="16" name="직사각형 30">
            <a:extLst>
              <a:ext uri="{FF2B5EF4-FFF2-40B4-BE49-F238E27FC236}">
                <a16:creationId xmlns:a16="http://schemas.microsoft.com/office/drawing/2014/main" id="{91A19873-AB2F-CE35-CB32-234D31679F55}"/>
              </a:ext>
            </a:extLst>
          </p:cNvPr>
          <p:cNvSpPr/>
          <p:nvPr/>
        </p:nvSpPr>
        <p:spPr>
          <a:xfrm>
            <a:off x="24233853" y="1520936"/>
            <a:ext cx="2503176" cy="3135086"/>
          </a:xfrm>
          <a:prstGeom prst="rect">
            <a:avLst/>
          </a:prstGeom>
          <a:solidFill>
            <a:srgbClr val="FBC67D">
              <a:alpha val="89000"/>
            </a:srgbClr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02202D"/>
              </a:solidFill>
              <a:latin typeface="+mj-lt"/>
            </a:endParaRPr>
          </a:p>
        </p:txBody>
      </p:sp>
      <p:sp>
        <p:nvSpPr>
          <p:cNvPr id="17" name="직사각형 42">
            <a:extLst>
              <a:ext uri="{FF2B5EF4-FFF2-40B4-BE49-F238E27FC236}">
                <a16:creationId xmlns:a16="http://schemas.microsoft.com/office/drawing/2014/main" id="{9928E9F1-768D-CB15-6357-33D277712946}"/>
              </a:ext>
            </a:extLst>
          </p:cNvPr>
          <p:cNvSpPr/>
          <p:nvPr/>
        </p:nvSpPr>
        <p:spPr>
          <a:xfrm>
            <a:off x="24222941" y="1513712"/>
            <a:ext cx="2503176" cy="3135086"/>
          </a:xfrm>
          <a:prstGeom prst="rect">
            <a:avLst/>
          </a:prstGeom>
          <a:solidFill>
            <a:srgbClr val="FBC67D">
              <a:alpha val="89000"/>
            </a:srgbClr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02202D"/>
              </a:solidFill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E4FF02-1228-8475-45CB-1321F1016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24307" y="2380091"/>
            <a:ext cx="2111356" cy="2106594"/>
          </a:xfrm>
          <a:prstGeom prst="rect">
            <a:avLst/>
          </a:prstGeom>
          <a:ln w="25400">
            <a:solidFill>
              <a:srgbClr val="02202D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126CD65-81D2-0181-DC37-4904CDFBF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8724" y="2386834"/>
            <a:ext cx="2094002" cy="2105123"/>
          </a:xfrm>
          <a:prstGeom prst="rect">
            <a:avLst/>
          </a:prstGeom>
          <a:ln w="25400">
            <a:solidFill>
              <a:srgbClr val="02202D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BFE3C7-6530-ABF6-EAA5-C17F50338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15160" y="2379610"/>
            <a:ext cx="2089290" cy="2098780"/>
          </a:xfrm>
          <a:prstGeom prst="rect">
            <a:avLst/>
          </a:prstGeom>
          <a:ln w="25400">
            <a:solidFill>
              <a:srgbClr val="02202D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4228563-676D-491F-E934-8A04BA7B54BF}"/>
              </a:ext>
            </a:extLst>
          </p:cNvPr>
          <p:cNvSpPr txBox="1"/>
          <p:nvPr/>
        </p:nvSpPr>
        <p:spPr>
          <a:xfrm>
            <a:off x="24305674" y="1566586"/>
            <a:ext cx="1799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✓</a:t>
            </a:r>
          </a:p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F0CA27-C85C-EFCF-1F6B-B2CE8E8B4709}"/>
              </a:ext>
            </a:extLst>
          </p:cNvPr>
          <p:cNvSpPr txBox="1"/>
          <p:nvPr/>
        </p:nvSpPr>
        <p:spPr>
          <a:xfrm>
            <a:off x="24355555" y="1593964"/>
            <a:ext cx="1923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X</a:t>
            </a:r>
          </a:p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✓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F41B3F-A0C7-F688-6671-6EE36DA7F040}"/>
              </a:ext>
            </a:extLst>
          </p:cNvPr>
          <p:cNvSpPr txBox="1"/>
          <p:nvPr/>
        </p:nvSpPr>
        <p:spPr>
          <a:xfrm>
            <a:off x="24305674" y="1606792"/>
            <a:ext cx="2308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 85.3%</a:t>
            </a:r>
          </a:p>
          <a:p>
            <a:r>
              <a:rPr lang="en-US" sz="2000" b="1">
                <a:solidFill>
                  <a:srgbClr val="022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53.9%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761F913-D077-4499-2ADD-A6C8E1D682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56" b="99390" l="9259" r="89815">
                        <a14:foregroundMark x1="87963" y1="70122" x2="45370" y2="83537"/>
                        <a14:foregroundMark x1="45370" y1="83537" x2="27778" y2="9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15133" y="3611998"/>
            <a:ext cx="1392549" cy="211461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C1864A1-5371-B319-3B5C-98234E020F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>
            <a:off x="6015990" y="4513676"/>
            <a:ext cx="2599047" cy="1212933"/>
          </a:xfrm>
          <a:prstGeom prst="rect">
            <a:avLst/>
          </a:prstGeom>
        </p:spPr>
      </p:pic>
      <p:sp>
        <p:nvSpPr>
          <p:cNvPr id="28" name="직사각형 23">
            <a:extLst>
              <a:ext uri="{FF2B5EF4-FFF2-40B4-BE49-F238E27FC236}">
                <a16:creationId xmlns:a16="http://schemas.microsoft.com/office/drawing/2014/main" id="{6FBAA88F-F09E-28DA-602C-333F05ADA4E6}"/>
              </a:ext>
            </a:extLst>
          </p:cNvPr>
          <p:cNvSpPr/>
          <p:nvPr/>
        </p:nvSpPr>
        <p:spPr>
          <a:xfrm>
            <a:off x="-15707500" y="2111652"/>
            <a:ext cx="7318748" cy="2634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 CNN vs Transformer studies vary:</a:t>
            </a:r>
            <a:b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Different datasets (size, quality, source)  </a:t>
            </a:r>
            <a:b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Different training regimes (epochs, optimizers, learning rates)  </a:t>
            </a:r>
            <a:b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Different model scales (10M vs 100M parameters)</a:t>
            </a:r>
          </a:p>
          <a:p>
            <a:pPr>
              <a:lnSpc>
                <a:spcPct val="150000"/>
              </a:lnSpc>
              <a:buClr>
                <a:srgbClr val="7297AA"/>
              </a:buClr>
            </a:pPr>
            <a:endParaRPr lang="en-US" altLang="ko-KR" sz="800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 Can't isolate architectural effects</a:t>
            </a:r>
            <a:endParaRPr lang="ko-KR" altLang="en-US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 altLang="ko-KR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9D5D44-6C47-4414-9F78-19BB88E7C55B}"/>
              </a:ext>
            </a:extLst>
          </p:cNvPr>
          <p:cNvSpPr txBox="1"/>
          <p:nvPr/>
        </p:nvSpPr>
        <p:spPr>
          <a:xfrm>
            <a:off x="-13784317" y="1046068"/>
            <a:ext cx="5400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ko-KR" sz="2800">
                <a:solidFill>
                  <a:srgbClr val="FBC67D"/>
                </a:solidFill>
                <a:latin typeface="Amasis MT Pro Medium" panose="02040604050005020304" pitchFamily="18" charset="0"/>
              </a:rPr>
              <a:t>No Fair Comparison Exists</a:t>
            </a:r>
            <a:endParaRPr lang="ko-KR" altLang="en-US" sz="280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D03E18-E653-D2B9-849A-4E1A10248D8D}"/>
              </a:ext>
            </a:extLst>
          </p:cNvPr>
          <p:cNvSpPr txBox="1"/>
          <p:nvPr/>
        </p:nvSpPr>
        <p:spPr>
          <a:xfrm>
            <a:off x="-16522994" y="4515515"/>
            <a:ext cx="8280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>
                <a:solidFill>
                  <a:srgbClr val="7297AA"/>
                </a:solidFill>
                <a:latin typeface="Amasis MT Pro Medium" panose="020406040500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Our solution: Rigorously controlled comparison</a:t>
            </a:r>
            <a:endParaRPr lang="ko-KR" altLang="en-US" sz="2400">
              <a:solidFill>
                <a:srgbClr val="7297AA"/>
              </a:solidFill>
              <a:latin typeface="Amasis MT Pro Medium" panose="020406040500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244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83CF-794B-F3C9-693B-412CF5B1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E03E7-88C0-8C0A-BD2C-D6F926A85128}"/>
              </a:ext>
            </a:extLst>
          </p:cNvPr>
          <p:cNvSpPr/>
          <p:nvPr/>
        </p:nvSpPr>
        <p:spPr>
          <a:xfrm>
            <a:off x="-8001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02202D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C01BFC-6211-E098-7DEA-C55E0A4C1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909" y="5495822"/>
            <a:ext cx="981441" cy="1099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1E85BE-A9AA-CAAD-DB21-87A6A5E9E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56" b="99390" l="9259" r="89815">
                        <a14:foregroundMark x1="87963" y1="70122" x2="45370" y2="83537"/>
                        <a14:foregroundMark x1="45370" y1="83537" x2="27778" y2="9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86016" y="5104702"/>
            <a:ext cx="981441" cy="14903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C7F246-644D-DE09-8535-F5CC43089C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 rot="15875651">
            <a:off x="-553164" y="4889356"/>
            <a:ext cx="2599047" cy="1212933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0FC9D5-63BD-7D14-B98C-33C3BFA2D44A}"/>
              </a:ext>
            </a:extLst>
          </p:cNvPr>
          <p:cNvSpPr/>
          <p:nvPr/>
        </p:nvSpPr>
        <p:spPr>
          <a:xfrm>
            <a:off x="1472556" y="1793386"/>
            <a:ext cx="7318748" cy="2634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 CNN vs Transformer studies vary:</a:t>
            </a:r>
            <a:b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Different datasets (size, quality, source)  </a:t>
            </a:r>
            <a:b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Different training regimes (epochs, optimizers, learning rates)  </a:t>
            </a:r>
            <a:b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Different model scales (10M vs 100M parameters)</a:t>
            </a:r>
          </a:p>
          <a:p>
            <a:pPr>
              <a:lnSpc>
                <a:spcPct val="150000"/>
              </a:lnSpc>
              <a:buClr>
                <a:srgbClr val="7297AA"/>
              </a:buClr>
            </a:pPr>
            <a:endParaRPr lang="en-US" altLang="ko-KR" sz="800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 Can't isolate architectural effects</a:t>
            </a:r>
            <a:endParaRPr lang="ko-KR" altLang="en-US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 altLang="ko-KR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EB39F8-A486-1344-EE76-3A95D678E28F}"/>
              </a:ext>
            </a:extLst>
          </p:cNvPr>
          <p:cNvSpPr txBox="1"/>
          <p:nvPr/>
        </p:nvSpPr>
        <p:spPr>
          <a:xfrm>
            <a:off x="3395739" y="727802"/>
            <a:ext cx="5400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ko-KR" sz="2800">
                <a:solidFill>
                  <a:srgbClr val="FBC67D"/>
                </a:solidFill>
                <a:latin typeface="Amasis MT Pro Medium" panose="02040604050005020304" pitchFamily="18" charset="0"/>
              </a:rPr>
              <a:t>No Fair Comparison Exists</a:t>
            </a:r>
            <a:endParaRPr lang="ko-KR" altLang="en-US" sz="280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1A22FE-3486-8810-0B1A-38C019C4BA7C}"/>
              </a:ext>
            </a:extLst>
          </p:cNvPr>
          <p:cNvSpPr txBox="1"/>
          <p:nvPr/>
        </p:nvSpPr>
        <p:spPr>
          <a:xfrm>
            <a:off x="657062" y="4197249"/>
            <a:ext cx="8280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>
                <a:solidFill>
                  <a:srgbClr val="7297AA"/>
                </a:solidFill>
                <a:latin typeface="Amasis MT Pro Medium" panose="020406040500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Our solution: Rigorously controlled comparison</a:t>
            </a:r>
            <a:endParaRPr lang="ko-KR" altLang="en-US" sz="2400">
              <a:solidFill>
                <a:srgbClr val="7297AA"/>
              </a:solidFill>
              <a:latin typeface="Amasis MT Pro Medium" panose="02040604050005020304" pitchFamily="18" charset="0"/>
              <a:cs typeface="Calibri" panose="020F050202020403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B6D55CA-3FD7-CC73-F219-CAD8545DC80E}"/>
              </a:ext>
            </a:extLst>
          </p:cNvPr>
          <p:cNvCxnSpPr>
            <a:cxnSpLocks/>
          </p:cNvCxnSpPr>
          <p:nvPr/>
        </p:nvCxnSpPr>
        <p:spPr>
          <a:xfrm flipV="1">
            <a:off x="1418336" y="1688683"/>
            <a:ext cx="0" cy="3068374"/>
          </a:xfrm>
          <a:prstGeom prst="line">
            <a:avLst/>
          </a:prstGeom>
          <a:ln>
            <a:solidFill>
              <a:srgbClr val="FBC6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4A911E3-120B-12A1-4134-44210C963CA5}"/>
              </a:ext>
            </a:extLst>
          </p:cNvPr>
          <p:cNvSpPr txBox="1"/>
          <p:nvPr/>
        </p:nvSpPr>
        <p:spPr>
          <a:xfrm>
            <a:off x="13427993" y="1149422"/>
            <a:ext cx="4272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ko-KR" sz="2800">
                <a:solidFill>
                  <a:srgbClr val="FBC67D"/>
                </a:solidFill>
                <a:latin typeface="Amasis MT Pro Medium" panose="02040604050005020304" pitchFamily="18" charset="0"/>
              </a:rPr>
              <a:t>The AlphaZero Legacy</a:t>
            </a:r>
            <a:endParaRPr lang="ko-KR" altLang="en-US" sz="280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49E320-EE80-BF39-738F-2167F593D57A}"/>
              </a:ext>
            </a:extLst>
          </p:cNvPr>
          <p:cNvSpPr txBox="1"/>
          <p:nvPr/>
        </p:nvSpPr>
        <p:spPr>
          <a:xfrm>
            <a:off x="12802097" y="381147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solidFill>
                  <a:srgbClr val="7297AA"/>
                </a:solidFill>
                <a:latin typeface="Amasis MT Pro Medium" panose="02040604050005020304" pitchFamily="18" charset="0"/>
              </a:rPr>
              <a:t>Can Transformers do better?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D34764-2E6D-2099-8E45-C60DF328B8DE}"/>
              </a:ext>
            </a:extLst>
          </p:cNvPr>
          <p:cNvSpPr txBox="1"/>
          <p:nvPr/>
        </p:nvSpPr>
        <p:spPr>
          <a:xfrm>
            <a:off x="13863386" y="2042194"/>
            <a:ext cx="8992998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AlphaZero (2017) : Superhuman chess using deep CNNs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CNNs became the dominant paradigm for chess engines</a:t>
            </a:r>
            <a:endParaRPr lang="ko-KR" altLang="en-US" sz="2000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AlphaZero authors noted: "CNNs may struggle with long-range dependencies"</a:t>
            </a:r>
            <a:endParaRPr lang="ko-KR" altLang="en-US" sz="2000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6882FB-38FA-4D96-E1A8-3A217D20B065}"/>
              </a:ext>
            </a:extLst>
          </p:cNvPr>
          <p:cNvSpPr txBox="1"/>
          <p:nvPr/>
        </p:nvSpPr>
        <p:spPr>
          <a:xfrm>
            <a:off x="-12834481" y="1908533"/>
            <a:ext cx="8250954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32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First Controlled Architecture Comparison</a:t>
            </a:r>
            <a:endParaRPr lang="ko-KR" altLang="en-US" sz="32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077C8B-1730-DCBD-A973-928FF7128331}"/>
              </a:ext>
            </a:extLst>
          </p:cNvPr>
          <p:cNvSpPr txBox="1"/>
          <p:nvPr/>
        </p:nvSpPr>
        <p:spPr>
          <a:xfrm>
            <a:off x="-12513717" y="3429000"/>
            <a:ext cx="2069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fr-FR" altLang="ko-KR" sz="1600">
                <a:solidFill>
                  <a:srgbClr val="517485"/>
                </a:solidFill>
              </a:rPr>
              <a:t>13.3M positions</a:t>
            </a:r>
            <a:endParaRPr lang="ko-KR" altLang="en-US" sz="1600">
              <a:solidFill>
                <a:srgbClr val="517485"/>
              </a:solidFill>
            </a:endParaRPr>
          </a:p>
        </p:txBody>
      </p:sp>
      <p:sp>
        <p:nvSpPr>
          <p:cNvPr id="22" name="직사각형 14">
            <a:extLst>
              <a:ext uri="{FF2B5EF4-FFF2-40B4-BE49-F238E27FC236}">
                <a16:creationId xmlns:a16="http://schemas.microsoft.com/office/drawing/2014/main" id="{E70710B2-0EC6-D6AE-00A6-99581E99C373}"/>
              </a:ext>
            </a:extLst>
          </p:cNvPr>
          <p:cNvSpPr/>
          <p:nvPr/>
        </p:nvSpPr>
        <p:spPr>
          <a:xfrm>
            <a:off x="-12513717" y="2967335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dataset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3E023A-17F1-A9F9-7B76-1F85A84F2232}"/>
              </a:ext>
            </a:extLst>
          </p:cNvPr>
          <p:cNvSpPr txBox="1"/>
          <p:nvPr/>
        </p:nvSpPr>
        <p:spPr>
          <a:xfrm>
            <a:off x="-9516852" y="3429000"/>
            <a:ext cx="1775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517485"/>
                </a:solidFill>
              </a:rPr>
              <a:t>~18M parameters each</a:t>
            </a:r>
            <a:endParaRPr lang="ko-KR" altLang="en-US" sz="1600">
              <a:solidFill>
                <a:srgbClr val="517485"/>
              </a:solidFill>
            </a:endParaRPr>
          </a:p>
        </p:txBody>
      </p:sp>
      <p:sp>
        <p:nvSpPr>
          <p:cNvPr id="26" name="직사각형 23">
            <a:extLst>
              <a:ext uri="{FF2B5EF4-FFF2-40B4-BE49-F238E27FC236}">
                <a16:creationId xmlns:a16="http://schemas.microsoft.com/office/drawing/2014/main" id="{11ADAF61-9312-5CB6-2A1C-A4C6AD5385DA}"/>
              </a:ext>
            </a:extLst>
          </p:cNvPr>
          <p:cNvSpPr/>
          <p:nvPr/>
        </p:nvSpPr>
        <p:spPr>
          <a:xfrm>
            <a:off x="-9626538" y="2967335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capacity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49585B-ED12-09B1-196B-D34DB7F163D6}"/>
              </a:ext>
            </a:extLst>
          </p:cNvPr>
          <p:cNvSpPr txBox="1"/>
          <p:nvPr/>
        </p:nvSpPr>
        <p:spPr>
          <a:xfrm>
            <a:off x="-6629673" y="3429000"/>
            <a:ext cx="17751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517485"/>
                </a:solidFill>
              </a:rPr>
              <a:t>Identical hyperparameters, optimizer, hardware, random seed</a:t>
            </a:r>
            <a:endParaRPr lang="ko-KR" altLang="en-US" sz="1600">
              <a:solidFill>
                <a:srgbClr val="517485"/>
              </a:solidFill>
            </a:endParaRPr>
          </a:p>
        </p:txBody>
      </p:sp>
      <p:sp>
        <p:nvSpPr>
          <p:cNvPr id="28" name="직사각형 28">
            <a:extLst>
              <a:ext uri="{FF2B5EF4-FFF2-40B4-BE49-F238E27FC236}">
                <a16:creationId xmlns:a16="http://schemas.microsoft.com/office/drawing/2014/main" id="{FFD5C094-49ED-871E-32CB-C4532F791896}"/>
              </a:ext>
            </a:extLst>
          </p:cNvPr>
          <p:cNvSpPr/>
          <p:nvPr/>
        </p:nvSpPr>
        <p:spPr>
          <a:xfrm>
            <a:off x="-6739359" y="2967335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training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620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B7FB-EB51-75F7-5116-8E83B409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755A86-B074-D5C1-B75A-6D346878D5E0}"/>
              </a:ext>
            </a:extLst>
          </p:cNvPr>
          <p:cNvSpPr/>
          <p:nvPr/>
        </p:nvSpPr>
        <p:spPr>
          <a:xfrm>
            <a:off x="-8001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A75D45-EA6E-7BED-C62E-61B8422D5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105" y="4496188"/>
            <a:ext cx="1322661" cy="14813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A198AA-ADD5-9BE9-0F73-ED68B37584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56" b="99390" l="9259" r="89815">
                        <a14:foregroundMark x1="87963" y1="70122" x2="45370" y2="83537"/>
                        <a14:foregroundMark x1="45370" y1="83537" x2="27778" y2="9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1564" y="3700415"/>
            <a:ext cx="1452393" cy="22054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7563A9-D864-A2C0-7776-6525713E2B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 rot="15875651">
            <a:off x="12219124" y="4086835"/>
            <a:ext cx="3449870" cy="160999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B46298-DF3A-A82F-FC7F-133874224880}"/>
              </a:ext>
            </a:extLst>
          </p:cNvPr>
          <p:cNvCxnSpPr>
            <a:cxnSpLocks/>
          </p:cNvCxnSpPr>
          <p:nvPr/>
        </p:nvCxnSpPr>
        <p:spPr>
          <a:xfrm>
            <a:off x="1853551" y="2240280"/>
            <a:ext cx="8250954" cy="0"/>
          </a:xfrm>
          <a:prstGeom prst="line">
            <a:avLst/>
          </a:prstGeom>
          <a:ln>
            <a:solidFill>
              <a:srgbClr val="FBC6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592F7E-AAA5-9466-0C29-8963DD0EE1DD}"/>
              </a:ext>
            </a:extLst>
          </p:cNvPr>
          <p:cNvSpPr txBox="1"/>
          <p:nvPr/>
        </p:nvSpPr>
        <p:spPr>
          <a:xfrm>
            <a:off x="1853551" y="1408989"/>
            <a:ext cx="8250954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32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First Controlled Architecture Comparison</a:t>
            </a:r>
            <a:endParaRPr lang="ko-KR" altLang="en-US" sz="32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5618C7-3490-8FD7-30E8-A2BC9451BA0E}"/>
              </a:ext>
            </a:extLst>
          </p:cNvPr>
          <p:cNvSpPr txBox="1"/>
          <p:nvPr/>
        </p:nvSpPr>
        <p:spPr>
          <a:xfrm>
            <a:off x="2174315" y="2929456"/>
            <a:ext cx="2069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fr-FR" altLang="ko-KR" sz="1600">
                <a:solidFill>
                  <a:schemeClr val="bg1"/>
                </a:solidFill>
              </a:rPr>
              <a:t>13.3M positions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562B14E-C98C-5D94-E283-2BF7C85A8565}"/>
              </a:ext>
            </a:extLst>
          </p:cNvPr>
          <p:cNvSpPr/>
          <p:nvPr/>
        </p:nvSpPr>
        <p:spPr>
          <a:xfrm>
            <a:off x="2174315" y="2467791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dataset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2E6B92-2A10-22D6-C5BD-EFBD36F2FDB5}"/>
              </a:ext>
            </a:extLst>
          </p:cNvPr>
          <p:cNvSpPr txBox="1"/>
          <p:nvPr/>
        </p:nvSpPr>
        <p:spPr>
          <a:xfrm>
            <a:off x="5171180" y="2929456"/>
            <a:ext cx="1775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bg1"/>
                </a:solidFill>
              </a:rPr>
              <a:t>~18M parameters each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175E71-730B-499B-A583-83B7F6CC6BD8}"/>
              </a:ext>
            </a:extLst>
          </p:cNvPr>
          <p:cNvSpPr/>
          <p:nvPr/>
        </p:nvSpPr>
        <p:spPr>
          <a:xfrm>
            <a:off x="5061494" y="2467791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capacity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D2BF14-25A4-309A-7CE4-7B92B32ADBB0}"/>
              </a:ext>
            </a:extLst>
          </p:cNvPr>
          <p:cNvSpPr txBox="1"/>
          <p:nvPr/>
        </p:nvSpPr>
        <p:spPr>
          <a:xfrm>
            <a:off x="8058359" y="2929456"/>
            <a:ext cx="17751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bg1"/>
                </a:solidFill>
              </a:rPr>
              <a:t>Identical hyperparameters, optimizer, hardware, random seed</a:t>
            </a:r>
            <a:endParaRPr lang="ko-KR" altLang="en-US" sz="160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6E55C24-429D-0B14-4236-56F116F4F271}"/>
              </a:ext>
            </a:extLst>
          </p:cNvPr>
          <p:cNvSpPr/>
          <p:nvPr/>
        </p:nvSpPr>
        <p:spPr>
          <a:xfrm>
            <a:off x="7948673" y="2467791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training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84CD67-63CC-4229-89D7-0AB2B7DB4A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664" b="94958" l="9434" r="89623">
                        <a14:foregroundMark x1="8491" y1="84034" x2="8491" y2="94958"/>
                        <a14:foregroundMark x1="8491" y1="94958" x2="34906" y2="99580"/>
                        <a14:foregroundMark x1="34906" y1="99580" x2="78302" y2="97899"/>
                        <a14:foregroundMark x1="78302" y1="97899" x2="88679" y2="89496"/>
                        <a14:foregroundMark x1="88679" y1="89496" x2="87736" y2="77731"/>
                        <a14:foregroundMark x1="87736" y1="77731" x2="61321" y2="83193"/>
                        <a14:foregroundMark x1="61321" y1="83193" x2="60377" y2="94958"/>
                        <a14:foregroundMark x1="60377" y1="94958" x2="59434" y2="932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703" y="2759007"/>
            <a:ext cx="1475589" cy="3313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64434A-A438-6C2F-7ED3-DA894DA8FC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43957" y="3527538"/>
            <a:ext cx="1475589" cy="2450033"/>
          </a:xfrm>
          <a:prstGeom prst="rect">
            <a:avLst/>
          </a:prstGeom>
        </p:spPr>
      </p:pic>
      <p:sp>
        <p:nvSpPr>
          <p:cNvPr id="16" name="직사각형 23">
            <a:extLst>
              <a:ext uri="{FF2B5EF4-FFF2-40B4-BE49-F238E27FC236}">
                <a16:creationId xmlns:a16="http://schemas.microsoft.com/office/drawing/2014/main" id="{2E843750-E9D4-D495-CAC0-89AF324A3582}"/>
              </a:ext>
            </a:extLst>
          </p:cNvPr>
          <p:cNvSpPr/>
          <p:nvPr/>
        </p:nvSpPr>
        <p:spPr>
          <a:xfrm>
            <a:off x="18036057" y="2240280"/>
            <a:ext cx="7318748" cy="2634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 CNN vs Transformer studies vary:</a:t>
            </a:r>
            <a:b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Different datasets (size, quality, source)  </a:t>
            </a:r>
            <a:b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Different training regimes (epochs, optimizers, learning rates)  </a:t>
            </a:r>
            <a:b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- Different model scales (10M vs 100M parameters)</a:t>
            </a:r>
          </a:p>
          <a:p>
            <a:pPr>
              <a:lnSpc>
                <a:spcPct val="150000"/>
              </a:lnSpc>
              <a:buClr>
                <a:srgbClr val="7297AA"/>
              </a:buClr>
            </a:pPr>
            <a:endParaRPr lang="en-US" altLang="ko-KR" sz="800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 Can't isolate architectural effects</a:t>
            </a:r>
            <a:endParaRPr lang="ko-KR" altLang="en-US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 altLang="ko-KR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2694B9-9560-2512-3829-74B9D8BC8007}"/>
              </a:ext>
            </a:extLst>
          </p:cNvPr>
          <p:cNvSpPr txBox="1"/>
          <p:nvPr/>
        </p:nvSpPr>
        <p:spPr>
          <a:xfrm>
            <a:off x="19959240" y="1174696"/>
            <a:ext cx="5400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altLang="ko-KR" sz="2800">
                <a:solidFill>
                  <a:srgbClr val="FBC67D"/>
                </a:solidFill>
                <a:latin typeface="Amasis MT Pro Medium" panose="02040604050005020304" pitchFamily="18" charset="0"/>
              </a:rPr>
              <a:t>No Fair Comparison Exists</a:t>
            </a:r>
            <a:endParaRPr lang="ko-KR" altLang="en-US" sz="280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75CB-2398-0C2B-B8B9-B31865A74276}"/>
              </a:ext>
            </a:extLst>
          </p:cNvPr>
          <p:cNvSpPr txBox="1"/>
          <p:nvPr/>
        </p:nvSpPr>
        <p:spPr>
          <a:xfrm>
            <a:off x="17220563" y="4644143"/>
            <a:ext cx="8280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>
                <a:solidFill>
                  <a:srgbClr val="7297AA"/>
                </a:solidFill>
                <a:latin typeface="Amasis MT Pro Medium" panose="020406040500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Our solution: Rigorously controlled comparison</a:t>
            </a:r>
            <a:endParaRPr lang="ko-KR" altLang="en-US" sz="2400">
              <a:solidFill>
                <a:srgbClr val="7297AA"/>
              </a:solidFill>
              <a:latin typeface="Amasis MT Pro Medium" panose="02040604050005020304" pitchFamily="18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30F3C6-2FDD-F8F2-1163-C84FD7D12B12}"/>
              </a:ext>
            </a:extLst>
          </p:cNvPr>
          <p:cNvSpPr txBox="1"/>
          <p:nvPr/>
        </p:nvSpPr>
        <p:spPr>
          <a:xfrm>
            <a:off x="-10135770" y="1407164"/>
            <a:ext cx="824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 CNNs: Spatial Inductive Bias</a:t>
            </a:r>
            <a:endParaRPr lang="ko-KR" altLang="en-US" sz="36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25" name="직사각형 33">
            <a:extLst>
              <a:ext uri="{FF2B5EF4-FFF2-40B4-BE49-F238E27FC236}">
                <a16:creationId xmlns:a16="http://schemas.microsoft.com/office/drawing/2014/main" id="{708C1840-3C62-DBE7-8666-EC150F226A04}"/>
              </a:ext>
            </a:extLst>
          </p:cNvPr>
          <p:cNvSpPr/>
          <p:nvPr/>
        </p:nvSpPr>
        <p:spPr>
          <a:xfrm>
            <a:off x="-9652521" y="2053495"/>
            <a:ext cx="618600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+mj-lt"/>
              </a:rPr>
              <a:t> Input: 18 × 8 × 8 board tensor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</a:rPr>
              <a:t> 15 residual blocks with 3×3 convolutions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</a:rPr>
              <a:t>Output: Dual heads for from-square/to-square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</a:rPr>
              <a:t>Advantages:  </a:t>
            </a:r>
          </a:p>
          <a:p>
            <a:pPr algn="ctr">
              <a:buClr>
                <a:srgbClr val="7297AA"/>
              </a:buClr>
            </a:pPr>
            <a:r>
              <a:rPr lang="en-US" altLang="ko-KR" sz="1400">
                <a:solidFill>
                  <a:srgbClr val="FBC67D"/>
                </a:solidFill>
              </a:rPr>
              <a:t>Detects geometric patterns (forks, pins, mates) anywhere on board</a:t>
            </a:r>
          </a:p>
          <a:p>
            <a:pPr algn="ctr">
              <a:buClr>
                <a:srgbClr val="7297AA"/>
              </a:buClr>
            </a:pPr>
            <a:r>
              <a:rPr lang="en-US" altLang="ko-KR" sz="1400">
                <a:solidFill>
                  <a:srgbClr val="FBC67D"/>
                </a:solidFill>
              </a:rPr>
              <a:t>Grows layer-by-layer (local → global)</a:t>
            </a: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>
              <a:solidFill>
                <a:srgbClr val="FBC67D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>
              <a:solidFill>
                <a:srgbClr val="FBC67D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>
              <a:solidFill>
                <a:srgbClr val="FBC67D"/>
              </a:solidFill>
              <a:latin typeface="+mj-lt"/>
            </a:endParaRPr>
          </a:p>
        </p:txBody>
      </p:sp>
      <p:pic>
        <p:nvPicPr>
          <p:cNvPr id="26" name="Picture 25" descr="A diagram of a graph&#10;&#10;AI-generated content may be incorrect.">
            <a:extLst>
              <a:ext uri="{FF2B5EF4-FFF2-40B4-BE49-F238E27FC236}">
                <a16:creationId xmlns:a16="http://schemas.microsoft.com/office/drawing/2014/main" id="{73EEC902-A8AA-C0D1-7B7D-EBB9DB72AA86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Photocopy/>
                    </a14:imgEffect>
                    <a14:imgEffect>
                      <a14:saturation sat="400000"/>
                    </a14:imgEffect>
                    <a14:imgEffect>
                      <a14:brightnessContrast bright="-2000"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82688" y="1542405"/>
            <a:ext cx="4537835" cy="2433203"/>
          </a:xfrm>
          <a:prstGeom prst="rect">
            <a:avLst/>
          </a:prstGeom>
          <a:solidFill>
            <a:srgbClr val="02202D">
              <a:alpha val="0"/>
            </a:srgbClr>
          </a:solidFill>
        </p:spPr>
      </p:pic>
    </p:spTree>
    <p:extLst>
      <p:ext uri="{BB962C8B-B14F-4D97-AF65-F5344CB8AC3E}">
        <p14:creationId xmlns:p14="http://schemas.microsoft.com/office/powerpoint/2010/main" val="1378330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41744-57E0-A0F6-AAF1-72073708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4378320-809B-394D-8D62-5AE1A20E1FCE}"/>
              </a:ext>
            </a:extLst>
          </p:cNvPr>
          <p:cNvSpPr/>
          <p:nvPr/>
        </p:nvSpPr>
        <p:spPr>
          <a:xfrm>
            <a:off x="5776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634476-B611-3037-12EB-287C75597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313" y="5321222"/>
            <a:ext cx="1322661" cy="14813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C6AFE4-B96E-FB85-A539-B0CF59B1E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>
            <a:off x="10298334" y="5192607"/>
            <a:ext cx="3449870" cy="16099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10CB0B-E9B3-471E-09F9-17954C350E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64" b="94958" l="9434" r="89623">
                        <a14:foregroundMark x1="8491" y1="84034" x2="8491" y2="94958"/>
                        <a14:foregroundMark x1="8491" y1="94958" x2="34906" y2="99580"/>
                        <a14:foregroundMark x1="34906" y1="99580" x2="78302" y2="97899"/>
                        <a14:foregroundMark x1="78302" y1="97899" x2="88679" y2="89496"/>
                        <a14:foregroundMark x1="88679" y1="89496" x2="87736" y2="77731"/>
                        <a14:foregroundMark x1="87736" y1="77731" x2="61321" y2="83193"/>
                        <a14:foregroundMark x1="61321" y1="83193" x2="60377" y2="94958"/>
                        <a14:foregroundMark x1="60377" y1="94958" x2="59434" y2="932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977" y="3489492"/>
            <a:ext cx="1475589" cy="33131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8F613DF-D105-6AA3-1B57-5AC4F33296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3157" y="4129123"/>
            <a:ext cx="1475589" cy="24500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8409208-CFB4-A6F5-B398-9759DC8E686E}"/>
              </a:ext>
            </a:extLst>
          </p:cNvPr>
          <p:cNvSpPr txBox="1"/>
          <p:nvPr/>
        </p:nvSpPr>
        <p:spPr>
          <a:xfrm>
            <a:off x="467972" y="985183"/>
            <a:ext cx="824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 CNNs: Spatial Inductive Bias</a:t>
            </a:r>
            <a:endParaRPr lang="ko-KR" altLang="en-US" sz="36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A80A3C-9BB5-FE4E-7071-2A65EA75FFAD}"/>
              </a:ext>
            </a:extLst>
          </p:cNvPr>
          <p:cNvSpPr/>
          <p:nvPr/>
        </p:nvSpPr>
        <p:spPr>
          <a:xfrm>
            <a:off x="951221" y="1631514"/>
            <a:ext cx="618600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BC67D"/>
                </a:solidFill>
                <a:latin typeface="+mj-lt"/>
              </a:rPr>
              <a:t> Input: 18 × 8 × 8 board tensor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BC67D"/>
                </a:solidFill>
              </a:rPr>
              <a:t> 15 residual blocks with 2x: 3×3 convolutions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BC67D"/>
                </a:solidFill>
              </a:rPr>
              <a:t>Output: Dual heads for from-square/to-square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BC67D"/>
                </a:solidFill>
              </a:rPr>
              <a:t>Advantages:  </a:t>
            </a:r>
          </a:p>
          <a:p>
            <a:pPr algn="ctr">
              <a:buClr>
                <a:srgbClr val="7297AA"/>
              </a:buClr>
            </a:pPr>
            <a:r>
              <a:rPr lang="en-US" altLang="ko-KR" sz="1400" dirty="0">
                <a:solidFill>
                  <a:srgbClr val="FBC67D"/>
                </a:solidFill>
              </a:rPr>
              <a:t>Detects geometric patterns (forks, pins, mates) anywhere on board</a:t>
            </a:r>
          </a:p>
          <a:p>
            <a:pPr algn="ctr">
              <a:buClr>
                <a:srgbClr val="7297AA"/>
              </a:buClr>
            </a:pPr>
            <a:r>
              <a:rPr lang="en-US" altLang="ko-KR" sz="1400" dirty="0">
                <a:solidFill>
                  <a:srgbClr val="FBC67D"/>
                </a:solidFill>
              </a:rPr>
              <a:t>Grows layer-by-layer (local → global)</a:t>
            </a: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FBC67D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FBC67D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FBC67D"/>
              </a:solidFill>
              <a:latin typeface="+mj-lt"/>
            </a:endParaRPr>
          </a:p>
        </p:txBody>
      </p:sp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76A147E4-73AC-03D7-7273-8A8F4257467D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Photocopy/>
                    </a14:imgEffect>
                    <a14:imgEffect>
                      <a14:saturation sat="400000"/>
                    </a14:imgEffect>
                    <a14:imgEffect>
                      <a14:brightnessContrast bright="-2000"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517" y="1682898"/>
            <a:ext cx="4537835" cy="2433203"/>
          </a:xfrm>
          <a:prstGeom prst="rect">
            <a:avLst/>
          </a:prstGeom>
          <a:solidFill>
            <a:srgbClr val="02202D">
              <a:alpha val="0"/>
            </a:srgbClr>
          </a:solidFill>
        </p:spPr>
      </p:pic>
      <p:sp>
        <p:nvSpPr>
          <p:cNvPr id="2" name="직사각형 39">
            <a:extLst>
              <a:ext uri="{FF2B5EF4-FFF2-40B4-BE49-F238E27FC236}">
                <a16:creationId xmlns:a16="http://schemas.microsoft.com/office/drawing/2014/main" id="{2A38B137-74CD-A58E-E331-B9D7697D9275}"/>
              </a:ext>
            </a:extLst>
          </p:cNvPr>
          <p:cNvSpPr/>
          <p:nvPr/>
        </p:nvSpPr>
        <p:spPr>
          <a:xfrm>
            <a:off x="1893666" y="4616220"/>
            <a:ext cx="9053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>
                <a:solidFill>
                  <a:srgbClr val="FBC67D"/>
                </a:solidFill>
                <a:latin typeface="+mj-lt"/>
              </a:rPr>
              <a:t> </a:t>
            </a:r>
            <a:br>
              <a:rPr lang="en-US" altLang="ko-KR" sz="2400">
                <a:solidFill>
                  <a:srgbClr val="FBC67D"/>
                </a:solidFill>
                <a:latin typeface="+mj-lt"/>
              </a:rPr>
            </a:br>
            <a:r>
              <a:rPr lang="en-US" altLang="ko-KR" sz="2400">
                <a:solidFill>
                  <a:srgbClr val="FBC67D"/>
                </a:solidFill>
                <a:latin typeface="+mj-lt"/>
              </a:rPr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ADA8CA-A1E6-F69C-126F-4B50E4EA09C8}"/>
              </a:ext>
            </a:extLst>
          </p:cNvPr>
          <p:cNvCxnSpPr>
            <a:cxnSpLocks/>
          </p:cNvCxnSpPr>
          <p:nvPr/>
        </p:nvCxnSpPr>
        <p:spPr>
          <a:xfrm>
            <a:off x="14283543" y="1816474"/>
            <a:ext cx="8250954" cy="0"/>
          </a:xfrm>
          <a:prstGeom prst="line">
            <a:avLst/>
          </a:prstGeom>
          <a:ln>
            <a:solidFill>
              <a:srgbClr val="FBC6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414918-B8A9-7C00-459C-8FC8E88A6A63}"/>
              </a:ext>
            </a:extLst>
          </p:cNvPr>
          <p:cNvSpPr txBox="1"/>
          <p:nvPr/>
        </p:nvSpPr>
        <p:spPr>
          <a:xfrm>
            <a:off x="14283543" y="985183"/>
            <a:ext cx="8250954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32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First Controlled Architecture Comparison</a:t>
            </a:r>
            <a:endParaRPr lang="ko-KR" altLang="en-US" sz="32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AD3A3-4242-21EA-410F-8C58A4238785}"/>
              </a:ext>
            </a:extLst>
          </p:cNvPr>
          <p:cNvSpPr txBox="1"/>
          <p:nvPr/>
        </p:nvSpPr>
        <p:spPr>
          <a:xfrm>
            <a:off x="14604307" y="2505650"/>
            <a:ext cx="2069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fr-FR" altLang="ko-KR" sz="1600">
                <a:solidFill>
                  <a:srgbClr val="517485"/>
                </a:solidFill>
              </a:rPr>
              <a:t>13.3M positions</a:t>
            </a:r>
            <a:endParaRPr lang="ko-KR" altLang="en-US" sz="1600">
              <a:solidFill>
                <a:srgbClr val="517485"/>
              </a:solidFill>
            </a:endParaRPr>
          </a:p>
        </p:txBody>
      </p:sp>
      <p:sp>
        <p:nvSpPr>
          <p:cNvPr id="9" name="직사각형 14">
            <a:extLst>
              <a:ext uri="{FF2B5EF4-FFF2-40B4-BE49-F238E27FC236}">
                <a16:creationId xmlns:a16="http://schemas.microsoft.com/office/drawing/2014/main" id="{3E71BA3D-F8EE-22F8-E143-386D82FC26BE}"/>
              </a:ext>
            </a:extLst>
          </p:cNvPr>
          <p:cNvSpPr/>
          <p:nvPr/>
        </p:nvSpPr>
        <p:spPr>
          <a:xfrm>
            <a:off x="14604307" y="2043985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dataset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3C7E9C-201E-3471-1E57-82C5727EB473}"/>
              </a:ext>
            </a:extLst>
          </p:cNvPr>
          <p:cNvSpPr txBox="1"/>
          <p:nvPr/>
        </p:nvSpPr>
        <p:spPr>
          <a:xfrm>
            <a:off x="17601172" y="2505650"/>
            <a:ext cx="1775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517485"/>
                </a:solidFill>
              </a:rPr>
              <a:t>~18M parameters each</a:t>
            </a:r>
            <a:endParaRPr lang="ko-KR" altLang="en-US" sz="1600">
              <a:solidFill>
                <a:srgbClr val="517485"/>
              </a:solidFill>
            </a:endParaRPr>
          </a:p>
        </p:txBody>
      </p:sp>
      <p:sp>
        <p:nvSpPr>
          <p:cNvPr id="11" name="직사각형 23">
            <a:extLst>
              <a:ext uri="{FF2B5EF4-FFF2-40B4-BE49-F238E27FC236}">
                <a16:creationId xmlns:a16="http://schemas.microsoft.com/office/drawing/2014/main" id="{6E45A8B1-211A-83B2-4536-1964D270EA79}"/>
              </a:ext>
            </a:extLst>
          </p:cNvPr>
          <p:cNvSpPr/>
          <p:nvPr/>
        </p:nvSpPr>
        <p:spPr>
          <a:xfrm>
            <a:off x="17491486" y="2043985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capacity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557215-CCB2-D1EC-01AC-12809BCDB594}"/>
              </a:ext>
            </a:extLst>
          </p:cNvPr>
          <p:cNvSpPr txBox="1"/>
          <p:nvPr/>
        </p:nvSpPr>
        <p:spPr>
          <a:xfrm>
            <a:off x="20488351" y="2505650"/>
            <a:ext cx="17751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517485"/>
                </a:solidFill>
              </a:rPr>
              <a:t>Identical hyperparameters, optimizer, hardware, random seed</a:t>
            </a:r>
            <a:endParaRPr lang="ko-KR" altLang="en-US" sz="1600">
              <a:solidFill>
                <a:srgbClr val="517485"/>
              </a:solidFill>
            </a:endParaRPr>
          </a:p>
        </p:txBody>
      </p:sp>
      <p:sp>
        <p:nvSpPr>
          <p:cNvPr id="13" name="직사각형 28">
            <a:extLst>
              <a:ext uri="{FF2B5EF4-FFF2-40B4-BE49-F238E27FC236}">
                <a16:creationId xmlns:a16="http://schemas.microsoft.com/office/drawing/2014/main" id="{E8BB471B-03D3-92EB-0339-5B68DC84EA75}"/>
              </a:ext>
            </a:extLst>
          </p:cNvPr>
          <p:cNvSpPr/>
          <p:nvPr/>
        </p:nvSpPr>
        <p:spPr>
          <a:xfrm>
            <a:off x="20378665" y="2043985"/>
            <a:ext cx="2069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training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FB32A30-20B6-4E4F-6186-49D8B24F2E32}"/>
              </a:ext>
            </a:extLst>
          </p:cNvPr>
          <p:cNvCxnSpPr>
            <a:cxnSpLocks/>
          </p:cNvCxnSpPr>
          <p:nvPr/>
        </p:nvCxnSpPr>
        <p:spPr>
          <a:xfrm flipV="1">
            <a:off x="389186" y="1631514"/>
            <a:ext cx="6694101" cy="13915"/>
          </a:xfrm>
          <a:prstGeom prst="line">
            <a:avLst/>
          </a:prstGeom>
          <a:ln>
            <a:solidFill>
              <a:srgbClr val="FBC6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99CCD88-7972-9EB6-6280-F1984C278C45}"/>
              </a:ext>
            </a:extLst>
          </p:cNvPr>
          <p:cNvSpPr txBox="1"/>
          <p:nvPr/>
        </p:nvSpPr>
        <p:spPr>
          <a:xfrm>
            <a:off x="-11811149" y="1338400"/>
            <a:ext cx="28583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Transformers: Global Attention</a:t>
            </a:r>
            <a:endParaRPr lang="ko-KR" altLang="en-US" sz="36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22" name="직사각형 33">
            <a:extLst>
              <a:ext uri="{FF2B5EF4-FFF2-40B4-BE49-F238E27FC236}">
                <a16:creationId xmlns:a16="http://schemas.microsoft.com/office/drawing/2014/main" id="{27B721F2-CF4D-6E3D-BDE1-0367D7633663}"/>
              </a:ext>
            </a:extLst>
          </p:cNvPr>
          <p:cNvSpPr/>
          <p:nvPr/>
        </p:nvSpPr>
        <p:spPr>
          <a:xfrm>
            <a:off x="-8952826" y="1338400"/>
            <a:ext cx="5528918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Input: 64 square tokens (8×8 flattened)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 self-attention layers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square attends to all 64 squares from layer 1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Dual heads for from-square/to-square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Advantages: 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distant piece coordination</a:t>
            </a:r>
          </a:p>
          <a:p>
            <a:pPr algn="ctr"/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receptive field</a:t>
            </a:r>
          </a:p>
          <a:p>
            <a:pPr algn="ctr"/>
            <a:endParaRPr lang="en-US" altLang="ko-KR">
              <a:solidFill>
                <a:srgbClr val="FBC67D"/>
              </a:solidFill>
              <a:latin typeface="+mj-lt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>
              <a:solidFill>
                <a:srgbClr val="FBC67D"/>
              </a:solidFill>
              <a:latin typeface="+mj-l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6922692-C96F-9E4C-09D8-7A3F2FE53FB8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0986609" y="4270973"/>
            <a:ext cx="4603851" cy="6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0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DB804-C52A-7EAB-372A-A65ACCD3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2E26A8-CEF6-E3BC-9FC6-A0EA275DFCD3}"/>
              </a:ext>
            </a:extLst>
          </p:cNvPr>
          <p:cNvSpPr/>
          <p:nvPr/>
        </p:nvSpPr>
        <p:spPr>
          <a:xfrm>
            <a:off x="5776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81D16-D9FC-89E5-5569-59C8948FA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5591" y="428825"/>
            <a:ext cx="1322661" cy="1481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73BC53-D9CE-6F7A-D171-D8EE9AFBA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>
            <a:off x="10298334" y="5192607"/>
            <a:ext cx="3449870" cy="160999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9BEA02-6D39-F744-9BA1-28BFD9440F8E}"/>
              </a:ext>
            </a:extLst>
          </p:cNvPr>
          <p:cNvSpPr txBox="1"/>
          <p:nvPr/>
        </p:nvSpPr>
        <p:spPr>
          <a:xfrm>
            <a:off x="2181640" y="1528833"/>
            <a:ext cx="31683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Transformers: Global Attention</a:t>
            </a:r>
            <a:endParaRPr lang="ko-KR" altLang="en-US" sz="36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3230C1-92A7-CCA7-3F6E-6CCDA616D8A6}"/>
              </a:ext>
            </a:extLst>
          </p:cNvPr>
          <p:cNvSpPr/>
          <p:nvPr/>
        </p:nvSpPr>
        <p:spPr>
          <a:xfrm>
            <a:off x="5349957" y="1528833"/>
            <a:ext cx="5528918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Input: 64 square (8×8 flattened) -&gt; 69 tokens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 self-attention heads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square attends to all 64 squares from layer 1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Dual heads for from-square/to-square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Advantages: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ko-KR" dirty="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distant piece coordination</a:t>
            </a:r>
          </a:p>
          <a:p>
            <a:pPr algn="ctr"/>
            <a:r>
              <a:rPr lang="en-US" altLang="ko-KR" dirty="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receptive field</a:t>
            </a:r>
          </a:p>
          <a:p>
            <a:pPr algn="ctr"/>
            <a:endParaRPr lang="en-US" altLang="ko-KR" dirty="0">
              <a:solidFill>
                <a:srgbClr val="FBC67D"/>
              </a:solidFill>
              <a:latin typeface="+mj-lt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FBC67D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310F9-2014-982D-918C-59E1443E824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08180" y="4493496"/>
            <a:ext cx="6108700" cy="8985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6864CC-0207-158F-C4A6-111894E296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1505" y="4167031"/>
            <a:ext cx="1475589" cy="24500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A02076-E1E1-C78C-08DA-D2B9B1D62ECB}"/>
              </a:ext>
            </a:extLst>
          </p:cNvPr>
          <p:cNvSpPr txBox="1"/>
          <p:nvPr/>
        </p:nvSpPr>
        <p:spPr>
          <a:xfrm>
            <a:off x="-10324219" y="1910208"/>
            <a:ext cx="6920564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32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Controlled Comparison Design</a:t>
            </a:r>
            <a:endParaRPr lang="ko-KR" altLang="en-US" sz="32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직사각형 14">
            <a:extLst>
              <a:ext uri="{FF2B5EF4-FFF2-40B4-BE49-F238E27FC236}">
                <a16:creationId xmlns:a16="http://schemas.microsoft.com/office/drawing/2014/main" id="{2E263F6A-DA33-E8A4-D3F9-D549D2E865D9}"/>
              </a:ext>
            </a:extLst>
          </p:cNvPr>
          <p:cNvSpPr/>
          <p:nvPr/>
        </p:nvSpPr>
        <p:spPr>
          <a:xfrm>
            <a:off x="-10361645" y="2607923"/>
            <a:ext cx="42391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Amasis MT Pro Medium" panose="02040604050005020304" pitchFamily="18" charset="0"/>
              </a:rPr>
              <a:t>Supervised move prediction</a:t>
            </a:r>
            <a:endParaRPr lang="ko-KR" altLang="en-US" sz="2400">
              <a:solidFill>
                <a:srgbClr val="51748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A789E3-AEBF-8035-8A3E-FBF94F74E47E}"/>
              </a:ext>
            </a:extLst>
          </p:cNvPr>
          <p:cNvSpPr txBox="1"/>
          <p:nvPr/>
        </p:nvSpPr>
        <p:spPr>
          <a:xfrm>
            <a:off x="-9965912" y="3069588"/>
            <a:ext cx="62039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Factorized: from-square (64 classes) + to-square (64 classes)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Correct only if both match ground truth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- 90/10 train/validation split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Training:  Cross-entropy loss, label smoothing (ε=0.1)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Hardware: Identical GPUs, batch sizes, learning rates</a:t>
            </a:r>
          </a:p>
          <a:p>
            <a:pPr>
              <a:lnSpc>
                <a:spcPct val="150000"/>
              </a:lnSpc>
              <a:buClr>
                <a:srgbClr val="7297AA"/>
              </a:buClr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764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9E171-C690-9A7B-E793-594466CF5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56AD52-210A-AFBC-A599-61EF47C6B97A}"/>
              </a:ext>
            </a:extLst>
          </p:cNvPr>
          <p:cNvSpPr/>
          <p:nvPr/>
        </p:nvSpPr>
        <p:spPr>
          <a:xfrm>
            <a:off x="5776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6397F7-A4B9-7BFE-BA4A-39AC0F221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103364">
            <a:off x="11415527" y="475881"/>
            <a:ext cx="1322661" cy="14813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14D6F0-D55F-345E-7F94-0B9D8ABE3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 rot="15807331">
            <a:off x="9232764" y="4247557"/>
            <a:ext cx="3449870" cy="1609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C7AB46-29BF-BE60-EF8F-489DB6FE12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8956" y="4122666"/>
            <a:ext cx="1475589" cy="24500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F24070-99E4-423C-E1C4-53F97DF25ABF}"/>
              </a:ext>
            </a:extLst>
          </p:cNvPr>
          <p:cNvSpPr txBox="1"/>
          <p:nvPr/>
        </p:nvSpPr>
        <p:spPr>
          <a:xfrm>
            <a:off x="2635718" y="1665744"/>
            <a:ext cx="6920564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32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Controlled Comparison Design</a:t>
            </a:r>
            <a:endParaRPr lang="ko-KR" altLang="en-US" sz="32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직사각형 14">
            <a:extLst>
              <a:ext uri="{FF2B5EF4-FFF2-40B4-BE49-F238E27FC236}">
                <a16:creationId xmlns:a16="http://schemas.microsoft.com/office/drawing/2014/main" id="{0AF40227-D744-45AB-08DC-A2A5178C9E4C}"/>
              </a:ext>
            </a:extLst>
          </p:cNvPr>
          <p:cNvSpPr/>
          <p:nvPr/>
        </p:nvSpPr>
        <p:spPr>
          <a:xfrm>
            <a:off x="2598292" y="2363459"/>
            <a:ext cx="42391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Amasis MT Pro Medium" panose="02040604050005020304" pitchFamily="18" charset="0"/>
              </a:rPr>
              <a:t>Supervised move prediction</a:t>
            </a:r>
            <a:endParaRPr lang="ko-KR" altLang="en-US" sz="2400">
              <a:solidFill>
                <a:srgbClr val="51748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645F37-C6DE-1835-0166-3D19C1889D80}"/>
              </a:ext>
            </a:extLst>
          </p:cNvPr>
          <p:cNvSpPr txBox="1"/>
          <p:nvPr/>
        </p:nvSpPr>
        <p:spPr>
          <a:xfrm>
            <a:off x="2994025" y="2825124"/>
            <a:ext cx="62039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Factorized: from-square (64 classes) + to-square (64 classes)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Correct only if both match ground truth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- 90/10 train/validation split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Training:  Cross-entropy loss, label smoothing (ε=0.1)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Hardware: Identical GPUs, batch sizes, learning rates</a:t>
            </a:r>
          </a:p>
          <a:p>
            <a:pPr>
              <a:lnSpc>
                <a:spcPct val="150000"/>
              </a:lnSpc>
              <a:buClr>
                <a:srgbClr val="7297AA"/>
              </a:buClr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B8782E-634B-F6F6-9BF3-8905B33409D9}"/>
              </a:ext>
            </a:extLst>
          </p:cNvPr>
          <p:cNvSpPr txBox="1"/>
          <p:nvPr/>
        </p:nvSpPr>
        <p:spPr>
          <a:xfrm>
            <a:off x="13651047" y="1473239"/>
            <a:ext cx="28583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Transformers: Global Attention</a:t>
            </a:r>
            <a:endParaRPr lang="ko-KR" altLang="en-US" sz="36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직사각형 33">
            <a:extLst>
              <a:ext uri="{FF2B5EF4-FFF2-40B4-BE49-F238E27FC236}">
                <a16:creationId xmlns:a16="http://schemas.microsoft.com/office/drawing/2014/main" id="{5B097D7B-5DBC-3973-6059-FDB5BC2C6139}"/>
              </a:ext>
            </a:extLst>
          </p:cNvPr>
          <p:cNvSpPr/>
          <p:nvPr/>
        </p:nvSpPr>
        <p:spPr>
          <a:xfrm>
            <a:off x="16509370" y="1473239"/>
            <a:ext cx="5528918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Input: 64 square tokens (8×8 flattened)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 self-attention layers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square attends to all 64 squares from layer 1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Dual heads for from-square/to-square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Advantages: 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distant piece coordination</a:t>
            </a:r>
          </a:p>
          <a:p>
            <a:pPr algn="ctr"/>
            <a:r>
              <a:rPr lang="en-US" altLang="ko-KR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receptive field</a:t>
            </a:r>
          </a:p>
          <a:p>
            <a:pPr algn="ctr"/>
            <a:endParaRPr lang="en-US" altLang="ko-KR">
              <a:solidFill>
                <a:srgbClr val="FBC67D"/>
              </a:solidFill>
              <a:latin typeface="+mj-lt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ko-KR">
              <a:solidFill>
                <a:srgbClr val="FBC67D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D23CC-0E8B-ACAB-4749-6B47C039CB2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080208" y="4381727"/>
            <a:ext cx="4603851" cy="6771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A1F584-2FC1-1057-50F2-D4D6B6658F46}"/>
              </a:ext>
            </a:extLst>
          </p:cNvPr>
          <p:cNvSpPr txBox="1"/>
          <p:nvPr/>
        </p:nvSpPr>
        <p:spPr>
          <a:xfrm>
            <a:off x="-5819511" y="1554192"/>
            <a:ext cx="4557501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32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Three Complementary Tests</a:t>
            </a:r>
            <a:endParaRPr lang="ko-KR" altLang="en-US" sz="32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BB5197-554A-3D40-600B-85C9D95F9D1F}"/>
              </a:ext>
            </a:extLst>
          </p:cNvPr>
          <p:cNvSpPr txBox="1"/>
          <p:nvPr/>
        </p:nvSpPr>
        <p:spPr>
          <a:xfrm>
            <a:off x="-11056085" y="1822321"/>
            <a:ext cx="3655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fr-FR" altLang="ko-KR" sz="1600">
                <a:solidFill>
                  <a:srgbClr val="FBC67D"/>
                </a:solidFill>
              </a:rPr>
              <a:t> Expert Games positions</a:t>
            </a:r>
          </a:p>
          <a:p>
            <a:pPr marL="0" indent="0" algn="ctr">
              <a:buNone/>
            </a:pPr>
            <a:r>
              <a:rPr lang="en-US" sz="1600">
                <a:solidFill>
                  <a:srgbClr val="FBC67D"/>
                </a:solidFill>
              </a:rPr>
              <a:t>"Can you predict what strong players do?"</a:t>
            </a:r>
          </a:p>
          <a:p>
            <a:endParaRPr lang="ko-KR" altLang="en-US" sz="1600">
              <a:solidFill>
                <a:srgbClr val="FBC67D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555331E-38E0-AEE2-3CBD-BB9E2484F649}"/>
              </a:ext>
            </a:extLst>
          </p:cNvPr>
          <p:cNvSpPr/>
          <p:nvPr/>
        </p:nvSpPr>
        <p:spPr>
          <a:xfrm>
            <a:off x="-11238782" y="1395289"/>
            <a:ext cx="281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Accuracy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868649-4B1F-9EDC-68D0-8EA154765117}"/>
              </a:ext>
            </a:extLst>
          </p:cNvPr>
          <p:cNvSpPr txBox="1"/>
          <p:nvPr/>
        </p:nvSpPr>
        <p:spPr>
          <a:xfrm>
            <a:off x="-11056085" y="1817770"/>
            <a:ext cx="32697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FBC67D"/>
                </a:solidFill>
              </a:rPr>
              <a:t>128 head-to-head games</a:t>
            </a:r>
            <a:endParaRPr lang="ko-KR" altLang="en-US" sz="1600">
              <a:solidFill>
                <a:srgbClr val="FBC67D"/>
              </a:solidFill>
            </a:endParaRPr>
          </a:p>
        </p:txBody>
      </p:sp>
      <p:sp>
        <p:nvSpPr>
          <p:cNvPr id="19" name="직사각형 23">
            <a:extLst>
              <a:ext uri="{FF2B5EF4-FFF2-40B4-BE49-F238E27FC236}">
                <a16:creationId xmlns:a16="http://schemas.microsoft.com/office/drawing/2014/main" id="{30EA426C-7910-1B9D-6D65-1398F1FD2A33}"/>
              </a:ext>
            </a:extLst>
          </p:cNvPr>
          <p:cNvSpPr/>
          <p:nvPr/>
        </p:nvSpPr>
        <p:spPr>
          <a:xfrm>
            <a:off x="-11391684" y="1356105"/>
            <a:ext cx="40825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Gameplay (Lichess.org)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90D21A-7E76-178D-8DF5-C796219E8DB1}"/>
              </a:ext>
            </a:extLst>
          </p:cNvPr>
          <p:cNvSpPr txBox="1"/>
          <p:nvPr/>
        </p:nvSpPr>
        <p:spPr>
          <a:xfrm>
            <a:off x="-11231793" y="1510917"/>
            <a:ext cx="3798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 err="1">
                <a:solidFill>
                  <a:srgbClr val="FBC67D"/>
                </a:solidFill>
              </a:rPr>
              <a:t>Lichess</a:t>
            </a:r>
            <a:r>
              <a:rPr lang="en-US" altLang="ko-KR" sz="1600">
                <a:solidFill>
                  <a:srgbClr val="FBC67D"/>
                </a:solidFill>
              </a:rPr>
              <a:t> puzzle database</a:t>
            </a:r>
          </a:p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FBC67D"/>
                </a:solidFill>
              </a:rPr>
              <a:t>15 tactical themes analyzed</a:t>
            </a:r>
          </a:p>
          <a:p>
            <a:pPr marL="0" indent="0" algn="ctr">
              <a:buClr>
                <a:srgbClr val="7297AA"/>
              </a:buClr>
              <a:buNone/>
            </a:pPr>
            <a:r>
              <a:rPr lang="en-US" sz="1600">
                <a:solidFill>
                  <a:srgbClr val="FBC67D"/>
                </a:solidFill>
              </a:rPr>
              <a:t>"Can you find the objectively best move?"</a:t>
            </a:r>
          </a:p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ko-KR" altLang="en-US" sz="1600">
              <a:solidFill>
                <a:srgbClr val="FBC67D"/>
              </a:solidFill>
            </a:endParaRPr>
          </a:p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ko-KR" altLang="en-US" sz="1600">
              <a:solidFill>
                <a:srgbClr val="FBC67D"/>
              </a:solidFill>
            </a:endParaRPr>
          </a:p>
        </p:txBody>
      </p:sp>
      <p:sp>
        <p:nvSpPr>
          <p:cNvPr id="22" name="직사각형 28">
            <a:extLst>
              <a:ext uri="{FF2B5EF4-FFF2-40B4-BE49-F238E27FC236}">
                <a16:creationId xmlns:a16="http://schemas.microsoft.com/office/drawing/2014/main" id="{70253839-30C4-1A8C-B905-1BAB317A7087}"/>
              </a:ext>
            </a:extLst>
          </p:cNvPr>
          <p:cNvSpPr/>
          <p:nvPr/>
        </p:nvSpPr>
        <p:spPr>
          <a:xfrm>
            <a:off x="-11363167" y="1049252"/>
            <a:ext cx="36552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Tactical Puzzles (1M puzzles)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64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BB7D3-F776-329E-102D-B1DB88267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D610C8-657C-39E0-7D86-E331329A0960}"/>
              </a:ext>
            </a:extLst>
          </p:cNvPr>
          <p:cNvSpPr/>
          <p:nvPr/>
        </p:nvSpPr>
        <p:spPr>
          <a:xfrm>
            <a:off x="5776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7F0552-83DC-265E-3056-695C2B09C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265" y="4996851"/>
            <a:ext cx="1322661" cy="1481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41E884-5303-E1E5-A494-27752E285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>
            <a:off x="10298334" y="5192607"/>
            <a:ext cx="3449870" cy="1609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29B28E-D87D-DFAC-DAF3-2D56C7A248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64" b="94958" l="9434" r="89623">
                        <a14:foregroundMark x1="8491" y1="84034" x2="8491" y2="94958"/>
                        <a14:foregroundMark x1="8491" y1="94958" x2="34906" y2="99580"/>
                        <a14:foregroundMark x1="34906" y1="99580" x2="78302" y2="97899"/>
                        <a14:foregroundMark x1="78302" y1="97899" x2="88679" y2="89496"/>
                        <a14:foregroundMark x1="88679" y1="89496" x2="87736" y2="77731"/>
                        <a14:foregroundMark x1="87736" y1="77731" x2="61321" y2="83193"/>
                        <a14:foregroundMark x1="61321" y1="83193" x2="60377" y2="94958"/>
                        <a14:foregroundMark x1="60377" y1="94958" x2="59434" y2="932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977" y="3489492"/>
            <a:ext cx="1475589" cy="33131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566B68-21F9-A0F3-C0E9-4DB2002100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3157" y="4129123"/>
            <a:ext cx="1475589" cy="24500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EED8F1-A725-61A0-C140-6CB7594BCDCB}"/>
              </a:ext>
            </a:extLst>
          </p:cNvPr>
          <p:cNvSpPr txBox="1"/>
          <p:nvPr/>
        </p:nvSpPr>
        <p:spPr>
          <a:xfrm>
            <a:off x="6681731" y="1437096"/>
            <a:ext cx="4557501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32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Three Complementary Tests</a:t>
            </a:r>
            <a:endParaRPr lang="ko-KR" altLang="en-US" sz="32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A17C3D-18B8-8120-799D-F594AA3D7F8B}"/>
              </a:ext>
            </a:extLst>
          </p:cNvPr>
          <p:cNvSpPr txBox="1"/>
          <p:nvPr/>
        </p:nvSpPr>
        <p:spPr>
          <a:xfrm>
            <a:off x="1445157" y="1705225"/>
            <a:ext cx="3655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fr-FR" altLang="ko-KR" sz="1600">
                <a:solidFill>
                  <a:srgbClr val="FBC67D"/>
                </a:solidFill>
              </a:rPr>
              <a:t> Expert Games positions</a:t>
            </a:r>
          </a:p>
          <a:p>
            <a:pPr marL="0" indent="0" algn="ctr">
              <a:buNone/>
            </a:pPr>
            <a:r>
              <a:rPr lang="en-US" sz="1600">
                <a:solidFill>
                  <a:srgbClr val="FBC67D"/>
                </a:solidFill>
              </a:rPr>
              <a:t>"Can you predict what strong players do?"</a:t>
            </a:r>
          </a:p>
          <a:p>
            <a:endParaRPr lang="ko-KR" altLang="en-US" sz="1600">
              <a:solidFill>
                <a:srgbClr val="FBC67D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616533-0C6D-D079-FD62-99E31E3B7259}"/>
              </a:ext>
            </a:extLst>
          </p:cNvPr>
          <p:cNvSpPr/>
          <p:nvPr/>
        </p:nvSpPr>
        <p:spPr>
          <a:xfrm>
            <a:off x="1262460" y="1278193"/>
            <a:ext cx="281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Accuracy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115DD5-DFE4-AD01-C39E-572D99F43A1F}"/>
              </a:ext>
            </a:extLst>
          </p:cNvPr>
          <p:cNvSpPr txBox="1"/>
          <p:nvPr/>
        </p:nvSpPr>
        <p:spPr>
          <a:xfrm>
            <a:off x="6754979" y="4295409"/>
            <a:ext cx="32697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FBC67D"/>
                </a:solidFill>
              </a:rPr>
              <a:t>128 head-to-head games</a:t>
            </a:r>
            <a:endParaRPr lang="ko-KR" altLang="en-US" sz="1600">
              <a:solidFill>
                <a:srgbClr val="FBC67D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5B3F9A5-1362-BD1D-2517-9EE8DEB2465B}"/>
              </a:ext>
            </a:extLst>
          </p:cNvPr>
          <p:cNvSpPr/>
          <p:nvPr/>
        </p:nvSpPr>
        <p:spPr>
          <a:xfrm>
            <a:off x="6419380" y="3833744"/>
            <a:ext cx="40825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Gameplay (Lichess.org)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0A5E35-3C4F-03AB-33FF-8B917F61F13F}"/>
              </a:ext>
            </a:extLst>
          </p:cNvPr>
          <p:cNvSpPr txBox="1"/>
          <p:nvPr/>
        </p:nvSpPr>
        <p:spPr>
          <a:xfrm>
            <a:off x="3899907" y="2923373"/>
            <a:ext cx="3798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 err="1">
                <a:solidFill>
                  <a:srgbClr val="FBC67D"/>
                </a:solidFill>
              </a:rPr>
              <a:t>Lichess</a:t>
            </a:r>
            <a:r>
              <a:rPr lang="en-US" altLang="ko-KR" sz="1600">
                <a:solidFill>
                  <a:srgbClr val="FBC67D"/>
                </a:solidFill>
              </a:rPr>
              <a:t> puzzle database</a:t>
            </a:r>
          </a:p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FBC67D"/>
                </a:solidFill>
              </a:rPr>
              <a:t>15 tactical themes analyzed</a:t>
            </a:r>
          </a:p>
          <a:p>
            <a:pPr marL="0" indent="0" algn="ctr">
              <a:buClr>
                <a:srgbClr val="7297AA"/>
              </a:buClr>
              <a:buNone/>
            </a:pPr>
            <a:r>
              <a:rPr lang="en-US" sz="1600">
                <a:solidFill>
                  <a:srgbClr val="FBC67D"/>
                </a:solidFill>
              </a:rPr>
              <a:t>"Can you find the objectively best move?"</a:t>
            </a:r>
          </a:p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ko-KR" altLang="en-US" sz="1600">
              <a:solidFill>
                <a:srgbClr val="FBC67D"/>
              </a:solidFill>
            </a:endParaRPr>
          </a:p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ko-KR" altLang="en-US" sz="1600">
              <a:solidFill>
                <a:srgbClr val="FBC67D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CC91CD7-B7B7-1ED7-094B-70146DF74C89}"/>
              </a:ext>
            </a:extLst>
          </p:cNvPr>
          <p:cNvSpPr/>
          <p:nvPr/>
        </p:nvSpPr>
        <p:spPr>
          <a:xfrm>
            <a:off x="3768533" y="2461708"/>
            <a:ext cx="36552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Tactical Puzzles (1M puzzles)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F00FC9-D7A0-43F6-B0C4-E8605319D461}"/>
              </a:ext>
            </a:extLst>
          </p:cNvPr>
          <p:cNvSpPr txBox="1"/>
          <p:nvPr/>
        </p:nvSpPr>
        <p:spPr>
          <a:xfrm>
            <a:off x="14700539" y="1540613"/>
            <a:ext cx="6920564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32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Controlled Comparison Design</a:t>
            </a:r>
            <a:endParaRPr lang="ko-KR" altLang="en-US" sz="32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직사각형 14">
            <a:extLst>
              <a:ext uri="{FF2B5EF4-FFF2-40B4-BE49-F238E27FC236}">
                <a16:creationId xmlns:a16="http://schemas.microsoft.com/office/drawing/2014/main" id="{E7C11B1F-A87E-CEDF-B84A-080C384BAEBF}"/>
              </a:ext>
            </a:extLst>
          </p:cNvPr>
          <p:cNvSpPr/>
          <p:nvPr/>
        </p:nvSpPr>
        <p:spPr>
          <a:xfrm>
            <a:off x="14663113" y="2238328"/>
            <a:ext cx="42391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Amasis MT Pro Medium" panose="02040604050005020304" pitchFamily="18" charset="0"/>
              </a:rPr>
              <a:t>Supervised move prediction</a:t>
            </a:r>
            <a:endParaRPr lang="ko-KR" altLang="en-US" sz="2400">
              <a:solidFill>
                <a:srgbClr val="51748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0373E-F404-D650-FF96-22184BDD1B19}"/>
              </a:ext>
            </a:extLst>
          </p:cNvPr>
          <p:cNvSpPr txBox="1"/>
          <p:nvPr/>
        </p:nvSpPr>
        <p:spPr>
          <a:xfrm>
            <a:off x="15058846" y="2699993"/>
            <a:ext cx="62039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Factorized: from-square (64 classes) + to-square (64 classes)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Correct only if both match ground truth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- 90/10 train/validation split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Training:  Cross-entropy loss, label smoothing (ε=0.1)</a:t>
            </a:r>
          </a:p>
          <a:p>
            <a:pPr marL="285750" indent="-285750">
              <a:lnSpc>
                <a:spcPct val="150000"/>
              </a:lnSpc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Hardware: Identical GPUs, batch sizes, learning rates</a:t>
            </a:r>
          </a:p>
          <a:p>
            <a:pPr>
              <a:lnSpc>
                <a:spcPct val="150000"/>
              </a:lnSpc>
              <a:buClr>
                <a:srgbClr val="7297AA"/>
              </a:buClr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en-US">
              <a:solidFill>
                <a:srgbClr val="FBC67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תיבת טקסט 3">
            <a:extLst>
              <a:ext uri="{FF2B5EF4-FFF2-40B4-BE49-F238E27FC236}">
                <a16:creationId xmlns:a16="http://schemas.microsoft.com/office/drawing/2014/main" id="{4D6CA76F-FF40-E5C1-269E-8D3938C1F5A9}"/>
              </a:ext>
            </a:extLst>
          </p:cNvPr>
          <p:cNvSpPr txBox="1"/>
          <p:nvPr/>
        </p:nvSpPr>
        <p:spPr>
          <a:xfrm>
            <a:off x="-9143345" y="1923099"/>
            <a:ext cx="390390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Transformer</a:t>
            </a:r>
            <a:r>
              <a:rPr lang="he-IL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 </a:t>
            </a:r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Wins</a:t>
            </a:r>
            <a:r>
              <a:rPr lang="he-IL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 </a:t>
            </a:r>
            <a:endParaRPr lang="en-US" sz="3200" dirty="0">
              <a:solidFill>
                <a:srgbClr val="FBC67D"/>
              </a:solidFill>
              <a:latin typeface="Amasis MT Pro Medium" panose="02040604050005020304" pitchFamily="18" charset="0"/>
              <a:ea typeface="+mn-lt"/>
              <a:cs typeface="+mn-lt"/>
            </a:endParaRPr>
          </a:p>
          <a:p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Validation</a:t>
            </a:r>
            <a:r>
              <a:rPr lang="he-IL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... </a:t>
            </a:r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Barely</a:t>
            </a:r>
            <a:endParaRPr lang="he-IL" sz="3200" dirty="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6" name="תמונה 5" descr="תמונה שמכילה טקסט, קו, תרשים, עלילה">
            <a:extLst>
              <a:ext uri="{FF2B5EF4-FFF2-40B4-BE49-F238E27FC236}">
                <a16:creationId xmlns:a16="http://schemas.microsoft.com/office/drawing/2014/main" id="{D6E442E8-429B-B5B2-04A4-A76A492C37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316840" y="883075"/>
            <a:ext cx="6753842" cy="3363539"/>
          </a:xfrm>
          <a:prstGeom prst="rect">
            <a:avLst/>
          </a:prstGeom>
          <a:ln>
            <a:noFill/>
          </a:ln>
          <a:effectLst>
            <a:outerShdw blurRad="76200" dir="13500000" sy="23000" kx="1200000" algn="br" rotWithShape="0">
              <a:srgbClr val="7297AA">
                <a:alpha val="20000"/>
              </a:srgbClr>
            </a:outerShdw>
          </a:effec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CF6DCC-4293-5D18-7860-DEA29D131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086212"/>
              </p:ext>
            </p:extLst>
          </p:nvPr>
        </p:nvGraphicFramePr>
        <p:xfrm>
          <a:off x="-11713496" y="4567767"/>
          <a:ext cx="5547155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579">
                  <a:extLst>
                    <a:ext uri="{9D8B030D-6E8A-4147-A177-3AD203B41FA5}">
                      <a16:colId xmlns:a16="http://schemas.microsoft.com/office/drawing/2014/main" val="3755142001"/>
                    </a:ext>
                  </a:extLst>
                </a:gridCol>
                <a:gridCol w="1892955">
                  <a:extLst>
                    <a:ext uri="{9D8B030D-6E8A-4147-A177-3AD203B41FA5}">
                      <a16:colId xmlns:a16="http://schemas.microsoft.com/office/drawing/2014/main" val="2479584936"/>
                    </a:ext>
                  </a:extLst>
                </a:gridCol>
                <a:gridCol w="1869621">
                  <a:extLst>
                    <a:ext uri="{9D8B030D-6E8A-4147-A177-3AD203B41FA5}">
                      <a16:colId xmlns:a16="http://schemas.microsoft.com/office/drawing/2014/main" val="1803728266"/>
                    </a:ext>
                  </a:extLst>
                </a:gridCol>
              </a:tblGrid>
              <a:tr h="327463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FBC67D"/>
                        </a:solidFill>
                        <a:latin typeface="Aptos Slab ExtraBold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Training Time 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Inference Speed 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ms</a:t>
                      </a:r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/pos)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693566"/>
                  </a:ext>
                </a:extLst>
              </a:tr>
              <a:tr h="3274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CNN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5.3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6.2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4960"/>
                  </a:ext>
                </a:extLst>
              </a:tr>
              <a:tr h="3274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Transformer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11.9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48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066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7A64693-8039-43DB-6FB0-AAC070CE01BB}"/>
              </a:ext>
            </a:extLst>
          </p:cNvPr>
          <p:cNvSpPr/>
          <p:nvPr/>
        </p:nvSpPr>
        <p:spPr>
          <a:xfrm>
            <a:off x="5776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777D75-E757-979E-D5CB-6CDF929E0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53" y="3711224"/>
            <a:ext cx="1322661" cy="14813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E460CB-9B7D-3520-68CF-D73028644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>
            <a:off x="1565015" y="5010874"/>
            <a:ext cx="3314796" cy="15469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68FDE9-11E7-06C9-D02E-EB3EC09C0C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64" b="94958" l="9434" r="89623">
                        <a14:foregroundMark x1="8491" y1="84034" x2="8491" y2="94958"/>
                        <a14:foregroundMark x1="8491" y1="94958" x2="34906" y2="99580"/>
                        <a14:foregroundMark x1="34906" y1="99580" x2="78302" y2="97899"/>
                        <a14:foregroundMark x1="78302" y1="97899" x2="88679" y2="89496"/>
                        <a14:foregroundMark x1="88679" y1="89496" x2="87736" y2="77731"/>
                        <a14:foregroundMark x1="87736" y1="77731" x2="61321" y2="83193"/>
                        <a14:foregroundMark x1="61321" y1="83193" x2="60377" y2="94958"/>
                        <a14:foregroundMark x1="60377" y1="94958" x2="59434" y2="932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977" y="3489492"/>
            <a:ext cx="1475589" cy="33131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31BDFF9-75D8-9931-F7D8-985E08B460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29209" y="2742574"/>
            <a:ext cx="1475589" cy="2450033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091DB6F9-40D0-7667-0573-77B44D23D694}"/>
              </a:ext>
            </a:extLst>
          </p:cNvPr>
          <p:cNvSpPr txBox="1"/>
          <p:nvPr/>
        </p:nvSpPr>
        <p:spPr>
          <a:xfrm>
            <a:off x="620565" y="1991125"/>
            <a:ext cx="390390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Transformer</a:t>
            </a:r>
            <a:r>
              <a:rPr lang="he-IL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 </a:t>
            </a:r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Wins</a:t>
            </a:r>
            <a:r>
              <a:rPr lang="he-IL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 </a:t>
            </a:r>
            <a:endParaRPr lang="en-US" sz="3200" dirty="0">
              <a:solidFill>
                <a:srgbClr val="FBC67D"/>
              </a:solidFill>
              <a:latin typeface="Amasis MT Pro Medium" panose="02040604050005020304" pitchFamily="18" charset="0"/>
              <a:ea typeface="+mn-lt"/>
              <a:cs typeface="+mn-lt"/>
            </a:endParaRPr>
          </a:p>
          <a:p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Validation</a:t>
            </a:r>
            <a:r>
              <a:rPr lang="he-IL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... </a:t>
            </a:r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Barely</a:t>
            </a:r>
            <a:endParaRPr lang="he-IL" sz="3200" dirty="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6" name="תמונה 5" descr="תמונה שמכילה טקסט, קו, תרשים, עלילה">
            <a:extLst>
              <a:ext uri="{FF2B5EF4-FFF2-40B4-BE49-F238E27FC236}">
                <a16:creationId xmlns:a16="http://schemas.microsoft.com/office/drawing/2014/main" id="{56BC34D3-B8F5-E228-FB90-8AB5466D6E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8260" y="752632"/>
            <a:ext cx="6753842" cy="3363539"/>
          </a:xfrm>
          <a:prstGeom prst="rect">
            <a:avLst/>
          </a:prstGeom>
          <a:ln>
            <a:noFill/>
          </a:ln>
          <a:effectLst>
            <a:outerShdw blurRad="76200" dir="13500000" sy="23000" kx="1200000" algn="br" rotWithShape="0">
              <a:srgbClr val="7297AA">
                <a:alpha val="2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E67AF9-588B-FD52-072D-2CC12282931C}"/>
              </a:ext>
            </a:extLst>
          </p:cNvPr>
          <p:cNvSpPr txBox="1"/>
          <p:nvPr/>
        </p:nvSpPr>
        <p:spPr>
          <a:xfrm>
            <a:off x="19502502" y="1558270"/>
            <a:ext cx="4557501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320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Three Complementary Tests</a:t>
            </a:r>
            <a:endParaRPr lang="ko-KR" altLang="en-US" sz="320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34ED2-0CBF-F40A-06F5-7D17C90493D2}"/>
              </a:ext>
            </a:extLst>
          </p:cNvPr>
          <p:cNvSpPr txBox="1"/>
          <p:nvPr/>
        </p:nvSpPr>
        <p:spPr>
          <a:xfrm>
            <a:off x="14265928" y="1826399"/>
            <a:ext cx="3655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fr-FR" altLang="ko-KR" sz="1600">
                <a:solidFill>
                  <a:srgbClr val="FBC67D"/>
                </a:solidFill>
              </a:rPr>
              <a:t> Expert Games positions</a:t>
            </a:r>
          </a:p>
          <a:p>
            <a:pPr marL="0" indent="0" algn="ctr">
              <a:buNone/>
            </a:pPr>
            <a:r>
              <a:rPr lang="en-US" sz="1600">
                <a:solidFill>
                  <a:srgbClr val="FBC67D"/>
                </a:solidFill>
              </a:rPr>
              <a:t>"Can you predict what strong players do?"</a:t>
            </a:r>
          </a:p>
          <a:p>
            <a:endParaRPr lang="ko-KR" altLang="en-US" sz="1600">
              <a:solidFill>
                <a:srgbClr val="FBC67D"/>
              </a:solidFill>
            </a:endParaRPr>
          </a:p>
        </p:txBody>
      </p:sp>
      <p:sp>
        <p:nvSpPr>
          <p:cNvPr id="9" name="직사각형 14">
            <a:extLst>
              <a:ext uri="{FF2B5EF4-FFF2-40B4-BE49-F238E27FC236}">
                <a16:creationId xmlns:a16="http://schemas.microsoft.com/office/drawing/2014/main" id="{2768C8DF-2CBD-1609-6FEE-E834E7D8D2E2}"/>
              </a:ext>
            </a:extLst>
          </p:cNvPr>
          <p:cNvSpPr/>
          <p:nvPr/>
        </p:nvSpPr>
        <p:spPr>
          <a:xfrm>
            <a:off x="14083231" y="1399367"/>
            <a:ext cx="28193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Accuracy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BE6E5B-7629-C825-0C97-014E94AE7FA7}"/>
              </a:ext>
            </a:extLst>
          </p:cNvPr>
          <p:cNvSpPr txBox="1"/>
          <p:nvPr/>
        </p:nvSpPr>
        <p:spPr>
          <a:xfrm>
            <a:off x="14265928" y="1821848"/>
            <a:ext cx="32697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FBC67D"/>
                </a:solidFill>
              </a:rPr>
              <a:t>128 head-to-head games</a:t>
            </a:r>
            <a:endParaRPr lang="ko-KR" altLang="en-US" sz="1600">
              <a:solidFill>
                <a:srgbClr val="FBC67D"/>
              </a:solidFill>
            </a:endParaRPr>
          </a:p>
        </p:txBody>
      </p:sp>
      <p:sp>
        <p:nvSpPr>
          <p:cNvPr id="11" name="직사각형 23">
            <a:extLst>
              <a:ext uri="{FF2B5EF4-FFF2-40B4-BE49-F238E27FC236}">
                <a16:creationId xmlns:a16="http://schemas.microsoft.com/office/drawing/2014/main" id="{A3B5D6E9-90CD-93A6-4E58-FA5662B05C52}"/>
              </a:ext>
            </a:extLst>
          </p:cNvPr>
          <p:cNvSpPr/>
          <p:nvPr/>
        </p:nvSpPr>
        <p:spPr>
          <a:xfrm>
            <a:off x="13930329" y="1360183"/>
            <a:ext cx="40825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Gameplay (Lichess.org)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78203-C0E6-CA37-E697-FF10EE0EA4D5}"/>
              </a:ext>
            </a:extLst>
          </p:cNvPr>
          <p:cNvSpPr txBox="1"/>
          <p:nvPr/>
        </p:nvSpPr>
        <p:spPr>
          <a:xfrm>
            <a:off x="14090220" y="1514995"/>
            <a:ext cx="3798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 err="1">
                <a:solidFill>
                  <a:srgbClr val="FBC67D"/>
                </a:solidFill>
              </a:rPr>
              <a:t>Lichess</a:t>
            </a:r>
            <a:r>
              <a:rPr lang="en-US" altLang="ko-KR" sz="1600">
                <a:solidFill>
                  <a:srgbClr val="FBC67D"/>
                </a:solidFill>
              </a:rPr>
              <a:t> puzzle database</a:t>
            </a:r>
          </a:p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FBC67D"/>
                </a:solidFill>
              </a:rPr>
              <a:t>15 tactical themes analyzed</a:t>
            </a:r>
          </a:p>
          <a:p>
            <a:pPr marL="0" indent="0" algn="ctr">
              <a:buClr>
                <a:srgbClr val="7297AA"/>
              </a:buClr>
              <a:buNone/>
            </a:pPr>
            <a:r>
              <a:rPr lang="en-US" sz="1600">
                <a:solidFill>
                  <a:srgbClr val="FBC67D"/>
                </a:solidFill>
              </a:rPr>
              <a:t>"Can you find the objectively best move?"</a:t>
            </a:r>
          </a:p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ko-KR" altLang="en-US" sz="1600">
              <a:solidFill>
                <a:srgbClr val="FBC67D"/>
              </a:solidFill>
            </a:endParaRPr>
          </a:p>
          <a:p>
            <a:pPr>
              <a:buClr>
                <a:srgbClr val="7297AA"/>
              </a:buClr>
              <a:buFont typeface="Arial" panose="020B0604020202020204" pitchFamily="34" charset="0"/>
              <a:buChar char="•"/>
            </a:pPr>
            <a:endParaRPr lang="ko-KR" altLang="en-US" sz="1600">
              <a:solidFill>
                <a:srgbClr val="FBC67D"/>
              </a:solidFill>
            </a:endParaRPr>
          </a:p>
        </p:txBody>
      </p:sp>
      <p:sp>
        <p:nvSpPr>
          <p:cNvPr id="13" name="직사각형 28">
            <a:extLst>
              <a:ext uri="{FF2B5EF4-FFF2-40B4-BE49-F238E27FC236}">
                <a16:creationId xmlns:a16="http://schemas.microsoft.com/office/drawing/2014/main" id="{E95FECE4-6CD6-8DF1-84EF-528AAC4C3DCC}"/>
              </a:ext>
            </a:extLst>
          </p:cNvPr>
          <p:cNvSpPr/>
          <p:nvPr/>
        </p:nvSpPr>
        <p:spPr>
          <a:xfrm>
            <a:off x="13958846" y="1053330"/>
            <a:ext cx="36552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51748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Tactical Puzzles (1M puzzles)</a:t>
            </a:r>
            <a:endParaRPr lang="ko-KR" altLang="en-US" sz="2400">
              <a:solidFill>
                <a:srgbClr val="5174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010B10-1CE4-61FA-06F0-3F9FC70FE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641569"/>
              </p:ext>
            </p:extLst>
          </p:nvPr>
        </p:nvGraphicFramePr>
        <p:xfrm>
          <a:off x="5251604" y="4437324"/>
          <a:ext cx="5547155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579">
                  <a:extLst>
                    <a:ext uri="{9D8B030D-6E8A-4147-A177-3AD203B41FA5}">
                      <a16:colId xmlns:a16="http://schemas.microsoft.com/office/drawing/2014/main" val="3755142001"/>
                    </a:ext>
                  </a:extLst>
                </a:gridCol>
                <a:gridCol w="1892955">
                  <a:extLst>
                    <a:ext uri="{9D8B030D-6E8A-4147-A177-3AD203B41FA5}">
                      <a16:colId xmlns:a16="http://schemas.microsoft.com/office/drawing/2014/main" val="2479584936"/>
                    </a:ext>
                  </a:extLst>
                </a:gridCol>
                <a:gridCol w="1869621">
                  <a:extLst>
                    <a:ext uri="{9D8B030D-6E8A-4147-A177-3AD203B41FA5}">
                      <a16:colId xmlns:a16="http://schemas.microsoft.com/office/drawing/2014/main" val="1803728266"/>
                    </a:ext>
                  </a:extLst>
                </a:gridCol>
              </a:tblGrid>
              <a:tr h="327463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FBC67D"/>
                        </a:solidFill>
                        <a:latin typeface="Aptos Slab ExtraBold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Training Time 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Inference Speed 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ms</a:t>
                      </a:r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/pos)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693566"/>
                  </a:ext>
                </a:extLst>
              </a:tr>
              <a:tr h="3274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CNN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5.3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6.2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4960"/>
                  </a:ext>
                </a:extLst>
              </a:tr>
              <a:tr h="3274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Transformer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11.9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4803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35BAAF-B3EA-517D-5117-FF3727047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353125"/>
              </p:ext>
            </p:extLst>
          </p:nvPr>
        </p:nvGraphicFramePr>
        <p:xfrm>
          <a:off x="-16283677" y="2420999"/>
          <a:ext cx="7509586" cy="237744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3500000" sy="23000" kx="1200000" algn="br" rotWithShape="0">
                    <a:srgbClr val="517485">
                      <a:alpha val="20000"/>
                    </a:srgbClr>
                  </a:outerShdw>
                </a:effectLst>
                <a:tableStyleId>{5C22544A-7EE6-4342-B048-85BDC9FD1C3A}</a:tableStyleId>
              </a:tblPr>
              <a:tblGrid>
                <a:gridCol w="1565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Time Control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BC67D"/>
                          </a:solidFill>
                        </a:rPr>
                        <a:t>Bot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Elo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Win%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BC67D"/>
                          </a:solidFill>
                        </a:rPr>
                        <a:t>Draw%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Loss%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Bullet (1+0)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CNN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1638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46.9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19.6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33.5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endParaRPr sz="1600" dirty="0">
                        <a:solidFill>
                          <a:srgbClr val="FBC67D"/>
                        </a:solidFill>
                      </a:endParaRP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1649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48.2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35.0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Blitz (3+0)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CNN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1516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46.0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15.8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38.2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endParaRPr sz="1600" dirty="0">
                        <a:solidFill>
                          <a:srgbClr val="FBC67D"/>
                        </a:solidFill>
                      </a:endParaRP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1577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48.5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18.5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33.0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תיבת טקסט 3">
            <a:extLst>
              <a:ext uri="{FF2B5EF4-FFF2-40B4-BE49-F238E27FC236}">
                <a16:creationId xmlns:a16="http://schemas.microsoft.com/office/drawing/2014/main" id="{EB7A7FB9-8B4C-7D42-B885-BB0254B644BB}"/>
              </a:ext>
            </a:extLst>
          </p:cNvPr>
          <p:cNvSpPr txBox="1"/>
          <p:nvPr/>
        </p:nvSpPr>
        <p:spPr>
          <a:xfrm>
            <a:off x="-16453152" y="1360183"/>
            <a:ext cx="78485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Transformer Slightly Stronger in Games</a:t>
            </a:r>
            <a:endParaRPr lang="he-IL" sz="3200" dirty="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6095AB-F91C-7974-5EDD-B80D779C56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756" b="99390" l="9259" r="89815">
                        <a14:foregroundMark x1="87963" y1="70122" x2="45370" y2="83537"/>
                        <a14:foregroundMark x1="45370" y1="83537" x2="27778" y2="9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86883" y="7179153"/>
            <a:ext cx="1392549" cy="211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8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3EF1E-F7C6-2617-02F8-DA56FBA09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67412B-90DA-7F49-05F4-C6C220AA2384}"/>
              </a:ext>
            </a:extLst>
          </p:cNvPr>
          <p:cNvSpPr/>
          <p:nvPr/>
        </p:nvSpPr>
        <p:spPr>
          <a:xfrm>
            <a:off x="5776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9D6C21-73ED-04F5-AB91-59A861F9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08" y="4997168"/>
            <a:ext cx="1322661" cy="1481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3430D1-F1DE-FB9F-79A7-D0C120317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 rot="15811469">
            <a:off x="9288104" y="4341049"/>
            <a:ext cx="3449870" cy="16099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016053-F6FF-3B5E-8212-57D068B7BD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64" b="94958" l="9434" r="89623">
                        <a14:foregroundMark x1="8491" y1="84034" x2="8491" y2="94958"/>
                        <a14:foregroundMark x1="8491" y1="94958" x2="34906" y2="99580"/>
                        <a14:foregroundMark x1="34906" y1="99580" x2="78302" y2="97899"/>
                        <a14:foregroundMark x1="78302" y1="97899" x2="88679" y2="89496"/>
                        <a14:foregroundMark x1="88679" y1="89496" x2="87736" y2="77731"/>
                        <a14:foregroundMark x1="87736" y1="77731" x2="61321" y2="83193"/>
                        <a14:foregroundMark x1="61321" y1="83193" x2="60377" y2="94958"/>
                        <a14:foregroundMark x1="60377" y1="94958" x2="59434" y2="932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977" y="3489492"/>
            <a:ext cx="1475589" cy="33131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22DC04E-44C1-E8C1-5926-BF285B22A7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5833" y="4340824"/>
            <a:ext cx="1475589" cy="245003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7ACA75-8B9D-8632-AA5C-A22A3D45F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961838"/>
              </p:ext>
            </p:extLst>
          </p:nvPr>
        </p:nvGraphicFramePr>
        <p:xfrm>
          <a:off x="2341207" y="2240280"/>
          <a:ext cx="7509586" cy="237744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3500000" sy="23000" kx="1200000" algn="br" rotWithShape="0">
                    <a:srgbClr val="517485">
                      <a:alpha val="20000"/>
                    </a:srgbClr>
                  </a:outerShdw>
                </a:effectLst>
                <a:tableStyleId>{5C22544A-7EE6-4342-B048-85BDC9FD1C3A}</a:tableStyleId>
              </a:tblPr>
              <a:tblGrid>
                <a:gridCol w="1565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Time Control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BC67D"/>
                          </a:solidFill>
                        </a:rPr>
                        <a:t>Bot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Elo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Win%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BC67D"/>
                          </a:solidFill>
                        </a:rPr>
                        <a:t>Draw%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Loss%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Bullet (1+0)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CNN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1638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46.9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19.6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33.5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endParaRPr sz="1600" dirty="0">
                        <a:solidFill>
                          <a:srgbClr val="FBC67D"/>
                        </a:solidFill>
                      </a:endParaRP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1649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48.2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35.0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Blitz (3+0)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CNN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1516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46.0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15.8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38.2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endParaRPr sz="1600" dirty="0">
                        <a:solidFill>
                          <a:srgbClr val="FBC67D"/>
                        </a:solidFill>
                      </a:endParaRP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1577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48.5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18.5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33.0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תיבת טקסט 3">
            <a:extLst>
              <a:ext uri="{FF2B5EF4-FFF2-40B4-BE49-F238E27FC236}">
                <a16:creationId xmlns:a16="http://schemas.microsoft.com/office/drawing/2014/main" id="{27098A00-5A1B-FA9A-63A6-0EFAFBCED4E7}"/>
              </a:ext>
            </a:extLst>
          </p:cNvPr>
          <p:cNvSpPr txBox="1"/>
          <p:nvPr/>
        </p:nvSpPr>
        <p:spPr>
          <a:xfrm>
            <a:off x="2171732" y="1179464"/>
            <a:ext cx="78485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Transformer Slightly Stronger in Games</a:t>
            </a:r>
            <a:endParaRPr lang="he-IL" sz="3200" dirty="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D6EA54E-CE8A-D97A-0D2C-D526EDC49FE8}"/>
              </a:ext>
            </a:extLst>
          </p:cNvPr>
          <p:cNvSpPr txBox="1"/>
          <p:nvPr/>
        </p:nvSpPr>
        <p:spPr>
          <a:xfrm>
            <a:off x="19401837" y="1970244"/>
            <a:ext cx="390390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Transformer</a:t>
            </a:r>
            <a:r>
              <a:rPr lang="he-IL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 </a:t>
            </a:r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Wins</a:t>
            </a:r>
            <a:r>
              <a:rPr lang="he-IL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 </a:t>
            </a:r>
            <a:endParaRPr lang="en-US" sz="3200" dirty="0">
              <a:solidFill>
                <a:srgbClr val="FBC67D"/>
              </a:solidFill>
              <a:latin typeface="Amasis MT Pro Medium" panose="02040604050005020304" pitchFamily="18" charset="0"/>
              <a:ea typeface="+mn-lt"/>
              <a:cs typeface="+mn-lt"/>
            </a:endParaRPr>
          </a:p>
          <a:p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Validation</a:t>
            </a:r>
            <a:r>
              <a:rPr lang="he-IL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... </a:t>
            </a:r>
            <a:r>
              <a:rPr lang="he-IL" sz="3200" dirty="0" err="1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Barely</a:t>
            </a:r>
            <a:endParaRPr lang="he-IL" sz="3200" dirty="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7" name="תמונה 5" descr="תמונה שמכילה טקסט, קו, תרשים, עלילה">
            <a:extLst>
              <a:ext uri="{FF2B5EF4-FFF2-40B4-BE49-F238E27FC236}">
                <a16:creationId xmlns:a16="http://schemas.microsoft.com/office/drawing/2014/main" id="{8363BB96-6B2D-2BE0-EF83-20D8E3135B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28342" y="930220"/>
            <a:ext cx="6753842" cy="3363539"/>
          </a:xfrm>
          <a:prstGeom prst="rect">
            <a:avLst/>
          </a:prstGeom>
          <a:ln>
            <a:noFill/>
          </a:ln>
          <a:effectLst>
            <a:outerShdw blurRad="76200" dir="13500000" sy="23000" kx="1200000" algn="br" rotWithShape="0">
              <a:srgbClr val="7297AA">
                <a:alpha val="20000"/>
              </a:srgbClr>
            </a:outerShdw>
          </a:effec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FD0050-E8C8-0B51-C38C-F5B4A6054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509426"/>
              </p:ext>
            </p:extLst>
          </p:nvPr>
        </p:nvGraphicFramePr>
        <p:xfrm>
          <a:off x="16831686" y="4614912"/>
          <a:ext cx="5547155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579">
                  <a:extLst>
                    <a:ext uri="{9D8B030D-6E8A-4147-A177-3AD203B41FA5}">
                      <a16:colId xmlns:a16="http://schemas.microsoft.com/office/drawing/2014/main" val="3755142001"/>
                    </a:ext>
                  </a:extLst>
                </a:gridCol>
                <a:gridCol w="1892955">
                  <a:extLst>
                    <a:ext uri="{9D8B030D-6E8A-4147-A177-3AD203B41FA5}">
                      <a16:colId xmlns:a16="http://schemas.microsoft.com/office/drawing/2014/main" val="2479584936"/>
                    </a:ext>
                  </a:extLst>
                </a:gridCol>
                <a:gridCol w="1869621">
                  <a:extLst>
                    <a:ext uri="{9D8B030D-6E8A-4147-A177-3AD203B41FA5}">
                      <a16:colId xmlns:a16="http://schemas.microsoft.com/office/drawing/2014/main" val="1803728266"/>
                    </a:ext>
                  </a:extLst>
                </a:gridCol>
              </a:tblGrid>
              <a:tr h="327463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rgbClr val="FBC67D"/>
                        </a:solidFill>
                        <a:latin typeface="Aptos Slab ExtraBold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Training Time 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Inference Speed 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(</a:t>
                      </a:r>
                      <a:r>
                        <a:rPr lang="en-US" sz="1600" dirty="0" err="1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ms</a:t>
                      </a:r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/pos)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693566"/>
                  </a:ext>
                </a:extLst>
              </a:tr>
              <a:tr h="3274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CNN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5.3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6.2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4960"/>
                  </a:ext>
                </a:extLst>
              </a:tr>
              <a:tr h="3274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Transformer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BC67D"/>
                          </a:solidFill>
                          <a:latin typeface="Aptos Slab ExtraBold" panose="020F0502020204030204" pitchFamily="34" charset="0"/>
                        </a:rPr>
                        <a:t>11.9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48034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9D76C56-3DDE-C3D3-1152-F0B3BFDF32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5979010"/>
              </p:ext>
            </p:extLst>
          </p:nvPr>
        </p:nvGraphicFramePr>
        <p:xfrm>
          <a:off x="-13213058" y="610905"/>
          <a:ext cx="7436152" cy="4628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F8434EC5-C7B4-669C-5A2A-D2720C807A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56" b="99390" l="9259" r="89815">
                        <a14:foregroundMark x1="87963" y1="70122" x2="45370" y2="83537"/>
                        <a14:foregroundMark x1="45370" y1="83537" x2="27778" y2="9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3993" y="4673064"/>
            <a:ext cx="1392549" cy="211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6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5728A8-C205-350B-E821-306F37D2AD5F}"/>
              </a:ext>
            </a:extLst>
          </p:cNvPr>
          <p:cNvSpPr/>
          <p:nvPr/>
        </p:nvSpPr>
        <p:spPr>
          <a:xfrm>
            <a:off x="5776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4A3A21-6481-5B86-7C09-98CFE2368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101611">
            <a:off x="1220316" y="546168"/>
            <a:ext cx="1322661" cy="1481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F121A3-EAC0-9DB6-A8DF-A1BC11089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 rot="15811469">
            <a:off x="10296893" y="4244329"/>
            <a:ext cx="3674695" cy="17149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6D6F51-57E1-2C96-50D9-0A005B2FD7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64" b="94958" l="9434" r="89623">
                        <a14:foregroundMark x1="8491" y1="84034" x2="8491" y2="94958"/>
                        <a14:foregroundMark x1="8491" y1="94958" x2="34906" y2="99580"/>
                        <a14:foregroundMark x1="34906" y1="99580" x2="78302" y2="97899"/>
                        <a14:foregroundMark x1="78302" y1="97899" x2="88679" y2="89496"/>
                        <a14:foregroundMark x1="88679" y1="89496" x2="87736" y2="77731"/>
                        <a14:foregroundMark x1="87736" y1="77731" x2="61321" y2="83193"/>
                        <a14:foregroundMark x1="61321" y1="83193" x2="60377" y2="94958"/>
                        <a14:foregroundMark x1="60377" y1="94958" x2="59434" y2="932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53298" y="-1197779"/>
            <a:ext cx="1475589" cy="33131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38C4CF-5E52-F18B-56A3-28F3D77DE9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739606">
            <a:off x="9770973" y="4944085"/>
            <a:ext cx="1475589" cy="2450033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2657ED6-7A84-D12D-7293-2E7C0675A2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5024211"/>
              </p:ext>
            </p:extLst>
          </p:nvPr>
        </p:nvGraphicFramePr>
        <p:xfrm>
          <a:off x="2123924" y="1114576"/>
          <a:ext cx="7436152" cy="4628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7D4911-930F-B222-F97A-36987E599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542345"/>
              </p:ext>
            </p:extLst>
          </p:nvPr>
        </p:nvGraphicFramePr>
        <p:xfrm>
          <a:off x="20051691" y="2560626"/>
          <a:ext cx="7509586" cy="237744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3500000" sy="23000" kx="1200000" algn="br" rotWithShape="0">
                    <a:srgbClr val="517485">
                      <a:alpha val="20000"/>
                    </a:srgbClr>
                  </a:outerShdw>
                </a:effectLst>
                <a:tableStyleId>{5C22544A-7EE6-4342-B048-85BDC9FD1C3A}</a:tableStyleId>
              </a:tblPr>
              <a:tblGrid>
                <a:gridCol w="1565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Time Control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BC67D"/>
                          </a:solidFill>
                        </a:rPr>
                        <a:t>Bot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Elo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Win%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BC67D"/>
                          </a:solidFill>
                        </a:rPr>
                        <a:t>Draw%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BC67D"/>
                          </a:solidFill>
                        </a:rPr>
                        <a:t>Loss%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Bullet (1+0)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CNN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1638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46.9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19.6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33.5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endParaRPr sz="1600" dirty="0">
                        <a:solidFill>
                          <a:srgbClr val="FBC67D"/>
                        </a:solidFill>
                      </a:endParaRP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1649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48.2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35.0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Blitz (3+0)</a:t>
                      </a: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CNN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1516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46.0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15.8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BC67D"/>
                          </a:solidFill>
                        </a:rPr>
                        <a:t>38.2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endParaRPr sz="1600" dirty="0">
                        <a:solidFill>
                          <a:srgbClr val="FBC67D"/>
                        </a:solidFill>
                      </a:endParaRPr>
                    </a:p>
                  </a:txBody>
                  <a:tcPr anchor="ctr">
                    <a:solidFill>
                      <a:srgbClr val="03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1577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48.5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18.5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BC67D"/>
                          </a:solidFill>
                        </a:rPr>
                        <a:t>33.0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תיבת טקסט 3">
            <a:extLst>
              <a:ext uri="{FF2B5EF4-FFF2-40B4-BE49-F238E27FC236}">
                <a16:creationId xmlns:a16="http://schemas.microsoft.com/office/drawing/2014/main" id="{106334D6-2ED8-A467-F8C2-08E6ED1E4D82}"/>
              </a:ext>
            </a:extLst>
          </p:cNvPr>
          <p:cNvSpPr txBox="1"/>
          <p:nvPr/>
        </p:nvSpPr>
        <p:spPr>
          <a:xfrm>
            <a:off x="19882216" y="1499810"/>
            <a:ext cx="784853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BC67D"/>
                </a:solidFill>
                <a:latin typeface="Amasis MT Pro Medium" panose="02040604050005020304" pitchFamily="18" charset="0"/>
                <a:ea typeface="+mn-lt"/>
                <a:cs typeface="+mn-lt"/>
              </a:rPr>
              <a:t>Transformer Slightly Stronger in Games</a:t>
            </a:r>
            <a:endParaRPr lang="he-IL" sz="3200" dirty="0">
              <a:solidFill>
                <a:srgbClr val="FBC67D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498A6-4E3F-3E3F-F5AE-021BAFC16E56}"/>
              </a:ext>
            </a:extLst>
          </p:cNvPr>
          <p:cNvSpPr txBox="1"/>
          <p:nvPr/>
        </p:nvSpPr>
        <p:spPr>
          <a:xfrm>
            <a:off x="-12980054" y="1111341"/>
            <a:ext cx="6920564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2800" dirty="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Transformer Dominates Direct Play</a:t>
            </a:r>
            <a:endParaRPr lang="ko-KR" altLang="en-US" sz="2800" dirty="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49747-834C-5521-BCC9-6ECD1218989B}"/>
              </a:ext>
            </a:extLst>
          </p:cNvPr>
          <p:cNvSpPr txBox="1"/>
          <p:nvPr/>
        </p:nvSpPr>
        <p:spPr>
          <a:xfrm>
            <a:off x="-14439183" y="3428999"/>
            <a:ext cx="49194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FBC67D"/>
              </a:buClr>
              <a:buFont typeface="Arial" panose="020B0604020202020204" pitchFamily="34" charset="0"/>
              <a:buChar char="•"/>
            </a:pPr>
            <a:r>
              <a:rPr lang="fr-FR" altLang="ko-KR" sz="1600" dirty="0">
                <a:solidFill>
                  <a:srgbClr val="7297AA"/>
                </a:solidFill>
              </a:rPr>
              <a:t>Transformer </a:t>
            </a:r>
            <a:r>
              <a:rPr lang="fr-FR" altLang="ko-KR" sz="1600" dirty="0" err="1">
                <a:solidFill>
                  <a:srgbClr val="7297AA"/>
                </a:solidFill>
              </a:rPr>
              <a:t>advantage</a:t>
            </a:r>
            <a:r>
              <a:rPr lang="fr-FR" altLang="ko-KR" sz="1600" dirty="0">
                <a:solidFill>
                  <a:srgbClr val="7297AA"/>
                </a:solidFill>
              </a:rPr>
              <a:t>: **+15.6 percentage points</a:t>
            </a:r>
            <a:endParaRPr lang="en-US" altLang="ko-KR" sz="1600" dirty="0">
              <a:solidFill>
                <a:srgbClr val="7297AA"/>
              </a:solidFill>
            </a:endParaRPr>
          </a:p>
          <a:p>
            <a:pPr>
              <a:buClr>
                <a:srgbClr val="FBC67D"/>
              </a:buClr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7297AA"/>
                </a:solidFill>
              </a:rPr>
              <a:t>Average game length: 92.3 moves</a:t>
            </a:r>
          </a:p>
          <a:p>
            <a:pPr>
              <a:buClr>
                <a:srgbClr val="FBC67D"/>
              </a:buClr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7297AA"/>
                </a:solidFill>
              </a:rPr>
              <a:t>Strategic advantages &gt; tactical precision in full games ?</a:t>
            </a:r>
          </a:p>
        </p:txBody>
      </p:sp>
      <p:sp>
        <p:nvSpPr>
          <p:cNvPr id="7" name="직사각형 15">
            <a:extLst>
              <a:ext uri="{FF2B5EF4-FFF2-40B4-BE49-F238E27FC236}">
                <a16:creationId xmlns:a16="http://schemas.microsoft.com/office/drawing/2014/main" id="{BA29AF24-2F30-474D-4B6D-31C70E060BE6}"/>
              </a:ext>
            </a:extLst>
          </p:cNvPr>
          <p:cNvSpPr/>
          <p:nvPr/>
        </p:nvSpPr>
        <p:spPr>
          <a:xfrm>
            <a:off x="-14636659" y="2779351"/>
            <a:ext cx="42239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128 games, Blitz 3+0 time control</a:t>
            </a:r>
            <a:endParaRPr lang="ko-KR" altLang="en-US" sz="2000" dirty="0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273D8AA-19A2-2C57-4F2F-92C7BD925A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9908496"/>
              </p:ext>
            </p:extLst>
          </p:nvPr>
        </p:nvGraphicFramePr>
        <p:xfrm>
          <a:off x="-15111505" y="1908023"/>
          <a:ext cx="6158895" cy="383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  <p:extLst>
      <p:ext uri="{BB962C8B-B14F-4D97-AF65-F5344CB8AC3E}">
        <p14:creationId xmlns:p14="http://schemas.microsoft.com/office/powerpoint/2010/main" val="3357526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970BA7D-EABB-2C83-0B22-CEF5EAB84A77}"/>
              </a:ext>
            </a:extLst>
          </p:cNvPr>
          <p:cNvSpPr/>
          <p:nvPr/>
        </p:nvSpPr>
        <p:spPr>
          <a:xfrm>
            <a:off x="5279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8C36A-9705-F677-F51D-D42D701DA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353" y="4982757"/>
            <a:ext cx="1322661" cy="1481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06BC0B-E08D-47CA-C924-7A7DA4C2A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 rot="15811469">
            <a:off x="9288104" y="4341049"/>
            <a:ext cx="3449870" cy="1609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FE227B-703D-6A21-C181-F5456E77F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64" b="94958" l="9434" r="89623">
                        <a14:foregroundMark x1="8491" y1="84034" x2="8491" y2="94958"/>
                        <a14:foregroundMark x1="8491" y1="94958" x2="34906" y2="99580"/>
                        <a14:foregroundMark x1="34906" y1="99580" x2="78302" y2="97899"/>
                        <a14:foregroundMark x1="78302" y1="97899" x2="88679" y2="89496"/>
                        <a14:foregroundMark x1="88679" y1="89496" x2="87736" y2="77731"/>
                        <a14:foregroundMark x1="87736" y1="77731" x2="61321" y2="83193"/>
                        <a14:foregroundMark x1="61321" y1="83193" x2="60377" y2="94958"/>
                        <a14:foregroundMark x1="60377" y1="94958" x2="59434" y2="932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977" y="3489492"/>
            <a:ext cx="1475589" cy="33131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214A9B-1663-EC2A-FE4F-4EDF543D99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5747" y="6750424"/>
            <a:ext cx="1475589" cy="24500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E9EBB8-C282-B677-3059-203FE4AB07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6" b="99390" l="9259" r="89815">
                        <a14:foregroundMark x1="87963" y1="70122" x2="45370" y2="83537"/>
                        <a14:foregroundMark x1="45370" y1="83537" x2="27778" y2="9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3993" y="4673064"/>
            <a:ext cx="1392549" cy="21146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EEF2B4-AAFC-4270-875A-D28FF337F07E}"/>
              </a:ext>
            </a:extLst>
          </p:cNvPr>
          <p:cNvSpPr txBox="1"/>
          <p:nvPr/>
        </p:nvSpPr>
        <p:spPr>
          <a:xfrm>
            <a:off x="2645428" y="660830"/>
            <a:ext cx="6920564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2800" dirty="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Transformer Dominates Direct Play</a:t>
            </a:r>
            <a:endParaRPr lang="ko-KR" altLang="en-US" sz="2800" dirty="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2BB95-0C62-4350-AFDE-938403B205F0}"/>
              </a:ext>
            </a:extLst>
          </p:cNvPr>
          <p:cNvSpPr txBox="1"/>
          <p:nvPr/>
        </p:nvSpPr>
        <p:spPr>
          <a:xfrm>
            <a:off x="5741086" y="2767052"/>
            <a:ext cx="49194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FBC67D"/>
              </a:buClr>
              <a:buFont typeface="Arial" panose="020B0604020202020204" pitchFamily="34" charset="0"/>
              <a:buChar char="•"/>
            </a:pPr>
            <a:r>
              <a:rPr lang="fr-FR" altLang="ko-KR" sz="1600" dirty="0">
                <a:solidFill>
                  <a:srgbClr val="7297AA"/>
                </a:solidFill>
              </a:rPr>
              <a:t>Transformer </a:t>
            </a:r>
            <a:r>
              <a:rPr lang="fr-FR" altLang="ko-KR" sz="1600" dirty="0" err="1">
                <a:solidFill>
                  <a:srgbClr val="7297AA"/>
                </a:solidFill>
              </a:rPr>
              <a:t>advantage</a:t>
            </a:r>
            <a:r>
              <a:rPr lang="fr-FR" altLang="ko-KR" sz="1600" dirty="0">
                <a:solidFill>
                  <a:srgbClr val="7297AA"/>
                </a:solidFill>
              </a:rPr>
              <a:t>: **+15.6 percentage points</a:t>
            </a:r>
            <a:endParaRPr lang="en-US" altLang="ko-KR" sz="1600" dirty="0">
              <a:solidFill>
                <a:srgbClr val="7297AA"/>
              </a:solidFill>
            </a:endParaRPr>
          </a:p>
          <a:p>
            <a:pPr>
              <a:buClr>
                <a:srgbClr val="FBC67D"/>
              </a:buClr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7297AA"/>
                </a:solidFill>
              </a:rPr>
              <a:t>Average game length: 92.3 moves</a:t>
            </a:r>
          </a:p>
          <a:p>
            <a:pPr>
              <a:buClr>
                <a:srgbClr val="FBC67D"/>
              </a:buClr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7297AA"/>
                </a:solidFill>
              </a:rPr>
              <a:t>Strategic advantages &gt; tactical precision in full games 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A51C07-7CF4-4CD6-A702-AF9F3EF0A7FF}"/>
              </a:ext>
            </a:extLst>
          </p:cNvPr>
          <p:cNvSpPr/>
          <p:nvPr/>
        </p:nvSpPr>
        <p:spPr>
          <a:xfrm>
            <a:off x="5157411" y="2267975"/>
            <a:ext cx="42239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128 games, Blitz 3+0 time control</a:t>
            </a:r>
            <a:endParaRPr lang="ko-KR" altLang="en-US" sz="2000" dirty="0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083A2C1-13FB-C68E-2A99-02448907A6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2998970"/>
              </p:ext>
            </p:extLst>
          </p:nvPr>
        </p:nvGraphicFramePr>
        <p:xfrm>
          <a:off x="513977" y="1457512"/>
          <a:ext cx="6158895" cy="383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7EB9820-C5ED-35BE-AE20-D374163066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8369487"/>
              </p:ext>
            </p:extLst>
          </p:nvPr>
        </p:nvGraphicFramePr>
        <p:xfrm>
          <a:off x="16671197" y="787774"/>
          <a:ext cx="7436152" cy="4628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D8C4C4-E652-E62E-4EEA-022852E54AEA}"/>
              </a:ext>
            </a:extLst>
          </p:cNvPr>
          <p:cNvSpPr txBox="1"/>
          <p:nvPr/>
        </p:nvSpPr>
        <p:spPr>
          <a:xfrm>
            <a:off x="-11705573" y="787774"/>
            <a:ext cx="504293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FBC67D"/>
                </a:solidFill>
                <a:latin typeface="Amasis MT Pro Medium" panose="02040604050005020304" pitchFamily="18" charset="0"/>
              </a:rPr>
              <a:t>Puzzles Tell a Different Story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A0191A-B347-27AD-358A-0777F4142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592650"/>
              </p:ext>
            </p:extLst>
          </p:nvPr>
        </p:nvGraphicFramePr>
        <p:xfrm>
          <a:off x="-9056897" y="2618254"/>
          <a:ext cx="4990926" cy="162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463">
                  <a:extLst>
                    <a:ext uri="{9D8B030D-6E8A-4147-A177-3AD203B41FA5}">
                      <a16:colId xmlns:a16="http://schemas.microsoft.com/office/drawing/2014/main" val="163117749"/>
                    </a:ext>
                  </a:extLst>
                </a:gridCol>
                <a:gridCol w="2495463">
                  <a:extLst>
                    <a:ext uri="{9D8B030D-6E8A-4147-A177-3AD203B41FA5}">
                      <a16:colId xmlns:a16="http://schemas.microsoft.com/office/drawing/2014/main" val="3521265930"/>
                    </a:ext>
                  </a:extLst>
                </a:gridCol>
              </a:tblGrid>
              <a:tr h="5404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Accuracy On 1M Puzzles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654181"/>
                  </a:ext>
                </a:extLst>
              </a:tr>
              <a:tr h="5404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CNN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38.07%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216458"/>
                  </a:ext>
                </a:extLst>
              </a:tr>
              <a:tr h="5404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37.91%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426210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A052635-FDBE-84BD-A01D-192F2E17E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603958"/>
              </p:ext>
            </p:extLst>
          </p:nvPr>
        </p:nvGraphicFramePr>
        <p:xfrm>
          <a:off x="-14222975" y="1878827"/>
          <a:ext cx="6306941" cy="2703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04235F2-651F-3D83-CD25-FB247A6383C8}"/>
              </a:ext>
            </a:extLst>
          </p:cNvPr>
          <p:cNvSpPr txBox="1"/>
          <p:nvPr/>
        </p:nvSpPr>
        <p:spPr>
          <a:xfrm>
            <a:off x="-11819190" y="4852039"/>
            <a:ext cx="60960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dirty="0">
                <a:solidFill>
                  <a:srgbClr val="FBC67D"/>
                </a:solidFill>
              </a:rPr>
              <a:t>Lines cross at ~1500 rating: task complexity determines winner</a:t>
            </a:r>
          </a:p>
        </p:txBody>
      </p:sp>
    </p:spTree>
    <p:extLst>
      <p:ext uri="{BB962C8B-B14F-4D97-AF65-F5344CB8AC3E}">
        <p14:creationId xmlns:p14="http://schemas.microsoft.com/office/powerpoint/2010/main" val="3866985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965820-9024-E011-2C6D-C4506EF20755}"/>
              </a:ext>
            </a:extLst>
          </p:cNvPr>
          <p:cNvSpPr/>
          <p:nvPr/>
        </p:nvSpPr>
        <p:spPr>
          <a:xfrm>
            <a:off x="5776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DD6C09-EE40-D0E5-31B8-35283E9F3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678" y="7511768"/>
            <a:ext cx="1322661" cy="1481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CF42F9-7DD7-B89A-0E0B-3EEC363B4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 rot="15811469">
            <a:off x="11519224" y="4489210"/>
            <a:ext cx="3449870" cy="16099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4F6EC2-4932-DCE8-4C4C-8106CEB488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64" b="94958" l="9434" r="89623">
                        <a14:foregroundMark x1="8491" y1="84034" x2="8491" y2="94958"/>
                        <a14:foregroundMark x1="8491" y1="94958" x2="34906" y2="99580"/>
                        <a14:foregroundMark x1="34906" y1="99580" x2="78302" y2="97899"/>
                        <a14:foregroundMark x1="78302" y1="97899" x2="88679" y2="89496"/>
                        <a14:foregroundMark x1="88679" y1="89496" x2="87736" y2="77731"/>
                        <a14:foregroundMark x1="87736" y1="77731" x2="61321" y2="83193"/>
                        <a14:foregroundMark x1="61321" y1="83193" x2="60377" y2="94958"/>
                        <a14:foregroundMark x1="60377" y1="94958" x2="59434" y2="932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791163">
            <a:off x="2251785" y="4844283"/>
            <a:ext cx="1139176" cy="25577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1CC6E7-D2F3-2BAC-8079-0B3B99F51B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079" y="4283887"/>
            <a:ext cx="1475589" cy="2450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6F1E29-8181-150B-BBE1-A00E064540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6" b="99390" l="9259" r="89815">
                        <a14:foregroundMark x1="87963" y1="70122" x2="45370" y2="83537"/>
                        <a14:foregroundMark x1="45370" y1="83537" x2="27778" y2="9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6410" y="4621357"/>
            <a:ext cx="1392549" cy="21146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5F9FB4-9D2A-4D5F-EC5E-890890864A0F}"/>
              </a:ext>
            </a:extLst>
          </p:cNvPr>
          <p:cNvSpPr txBox="1"/>
          <p:nvPr/>
        </p:nvSpPr>
        <p:spPr>
          <a:xfrm>
            <a:off x="3574533" y="557092"/>
            <a:ext cx="504293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FBC67D"/>
                </a:solidFill>
                <a:latin typeface="Amasis MT Pro Medium" panose="02040604050005020304" pitchFamily="18" charset="0"/>
              </a:rPr>
              <a:t>Puzzles Tell a Different Story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8952AB-42E8-56D7-2317-6C7F65F1F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974662"/>
              </p:ext>
            </p:extLst>
          </p:nvPr>
        </p:nvGraphicFramePr>
        <p:xfrm>
          <a:off x="6223209" y="2387572"/>
          <a:ext cx="4990926" cy="162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463">
                  <a:extLst>
                    <a:ext uri="{9D8B030D-6E8A-4147-A177-3AD203B41FA5}">
                      <a16:colId xmlns:a16="http://schemas.microsoft.com/office/drawing/2014/main" val="163117749"/>
                    </a:ext>
                  </a:extLst>
                </a:gridCol>
                <a:gridCol w="2495463">
                  <a:extLst>
                    <a:ext uri="{9D8B030D-6E8A-4147-A177-3AD203B41FA5}">
                      <a16:colId xmlns:a16="http://schemas.microsoft.com/office/drawing/2014/main" val="3521265930"/>
                    </a:ext>
                  </a:extLst>
                </a:gridCol>
              </a:tblGrid>
              <a:tr h="5404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Accuracy On 1M Puzzles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654181"/>
                  </a:ext>
                </a:extLst>
              </a:tr>
              <a:tr h="5404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CNN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38.07%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216458"/>
                  </a:ext>
                </a:extLst>
              </a:tr>
              <a:tr h="5404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37.91%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426210"/>
                  </a:ext>
                </a:extLst>
              </a:tr>
            </a:tbl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691657E3-1CDF-062C-5433-C0168C7DD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132158"/>
              </p:ext>
            </p:extLst>
          </p:nvPr>
        </p:nvGraphicFramePr>
        <p:xfrm>
          <a:off x="1057131" y="1648145"/>
          <a:ext cx="6306941" cy="2703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EE9566D-FABC-87C2-F6B6-81C496E5F285}"/>
              </a:ext>
            </a:extLst>
          </p:cNvPr>
          <p:cNvSpPr txBox="1"/>
          <p:nvPr/>
        </p:nvSpPr>
        <p:spPr>
          <a:xfrm>
            <a:off x="3460916" y="4621357"/>
            <a:ext cx="60960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dirty="0">
                <a:solidFill>
                  <a:srgbClr val="FBC67D"/>
                </a:solidFill>
              </a:rPr>
              <a:t>Lines cross at ~1500 rating: task complexity determines winner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E24F9-DB44-FBF0-6C0F-7DAEF6F6E517}"/>
              </a:ext>
            </a:extLst>
          </p:cNvPr>
          <p:cNvSpPr txBox="1"/>
          <p:nvPr/>
        </p:nvSpPr>
        <p:spPr>
          <a:xfrm>
            <a:off x="18997052" y="950430"/>
            <a:ext cx="6920564" cy="697715"/>
          </a:xfrm>
          <a:prstGeom prst="rect">
            <a:avLst/>
          </a:prstGeom>
          <a:noFill/>
        </p:spPr>
        <p:txBody>
          <a:bodyPr wrap="square" lIns="72000" tIns="36000" rIns="72000" bIns="36000" rtlCol="0" anchor="ctr" anchorCtr="0">
            <a:noAutofit/>
          </a:bodyPr>
          <a:lstStyle/>
          <a:p>
            <a:pPr algn="ctr"/>
            <a:r>
              <a:rPr lang="en-US" altLang="ko-KR" sz="2800" dirty="0">
                <a:solidFill>
                  <a:srgbClr val="FBC67D"/>
                </a:solidFill>
                <a:latin typeface="Amasis MT Pro Medium" panose="02040604050005020304" pitchFamily="18" charset="0"/>
                <a:cs typeface="Arial" panose="020B0604020202020204" pitchFamily="34" charset="0"/>
              </a:rPr>
              <a:t>Transformer Dominates Direct Play</a:t>
            </a:r>
            <a:endParaRPr lang="ko-KR" altLang="en-US" sz="2800" dirty="0">
              <a:solidFill>
                <a:srgbClr val="FBC67D"/>
              </a:solidFill>
              <a:latin typeface="Amasis MT Pro Medium" panose="020406040500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436BC-5C1A-AC8D-1E08-1ABDBC8F72DB}"/>
              </a:ext>
            </a:extLst>
          </p:cNvPr>
          <p:cNvSpPr txBox="1"/>
          <p:nvPr/>
        </p:nvSpPr>
        <p:spPr>
          <a:xfrm>
            <a:off x="17537923" y="3268088"/>
            <a:ext cx="491941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pPr>
              <a:buClr>
                <a:srgbClr val="FBC67D"/>
              </a:buClr>
              <a:buFont typeface="Arial" panose="020B0604020202020204" pitchFamily="34" charset="0"/>
              <a:buChar char="•"/>
            </a:pPr>
            <a:r>
              <a:rPr lang="fr-FR" altLang="ko-KR" sz="1600" dirty="0">
                <a:solidFill>
                  <a:srgbClr val="7297AA"/>
                </a:solidFill>
              </a:rPr>
              <a:t>Transformer </a:t>
            </a:r>
            <a:r>
              <a:rPr lang="fr-FR" altLang="ko-KR" sz="1600" dirty="0" err="1">
                <a:solidFill>
                  <a:srgbClr val="7297AA"/>
                </a:solidFill>
              </a:rPr>
              <a:t>advantage</a:t>
            </a:r>
            <a:r>
              <a:rPr lang="fr-FR" altLang="ko-KR" sz="1600" dirty="0">
                <a:solidFill>
                  <a:srgbClr val="7297AA"/>
                </a:solidFill>
              </a:rPr>
              <a:t>: **+15.6 percentage points</a:t>
            </a:r>
            <a:endParaRPr lang="en-US" altLang="ko-KR" sz="1600" dirty="0">
              <a:solidFill>
                <a:srgbClr val="7297AA"/>
              </a:solidFill>
            </a:endParaRPr>
          </a:p>
          <a:p>
            <a:pPr>
              <a:buClr>
                <a:srgbClr val="FBC67D"/>
              </a:buClr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7297AA"/>
                </a:solidFill>
              </a:rPr>
              <a:t>Average game length: 92.3 moves</a:t>
            </a:r>
          </a:p>
          <a:p>
            <a:pPr>
              <a:buClr>
                <a:srgbClr val="FBC67D"/>
              </a:buClr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7297AA"/>
                </a:solidFill>
              </a:rPr>
              <a:t>Strategic advantages &gt; tactical precision in full games ?</a:t>
            </a:r>
          </a:p>
        </p:txBody>
      </p:sp>
      <p:sp>
        <p:nvSpPr>
          <p:cNvPr id="6" name="직사각형 15">
            <a:extLst>
              <a:ext uri="{FF2B5EF4-FFF2-40B4-BE49-F238E27FC236}">
                <a16:creationId xmlns:a16="http://schemas.microsoft.com/office/drawing/2014/main" id="{012290B7-7F42-3118-2FDF-AB0C53270E4C}"/>
              </a:ext>
            </a:extLst>
          </p:cNvPr>
          <p:cNvSpPr/>
          <p:nvPr/>
        </p:nvSpPr>
        <p:spPr>
          <a:xfrm>
            <a:off x="17340447" y="2618440"/>
            <a:ext cx="4223940" cy="4001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altLang="ko-KR" sz="2000" dirty="0">
                <a:solidFill>
                  <a:srgbClr val="FBC6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128 games, Blitz 3+0 time control</a:t>
            </a:r>
            <a:endParaRPr lang="ko-KR" altLang="en-US" sz="2000" dirty="0">
              <a:solidFill>
                <a:srgbClr val="FBC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F224B76-A438-E854-C1C9-6D0DA20F21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7932574"/>
              </p:ext>
            </p:extLst>
          </p:nvPr>
        </p:nvGraphicFramePr>
        <p:xfrm>
          <a:off x="16865601" y="1747112"/>
          <a:ext cx="6158895" cy="383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2304AC7-EB42-51B0-FBDB-2BC394607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989749"/>
              </p:ext>
            </p:extLst>
          </p:nvPr>
        </p:nvGraphicFramePr>
        <p:xfrm>
          <a:off x="-9434634" y="1369441"/>
          <a:ext cx="6836228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  <p:extLst>
      <p:ext uri="{BB962C8B-B14F-4D97-AF65-F5344CB8AC3E}">
        <p14:creationId xmlns:p14="http://schemas.microsoft.com/office/powerpoint/2010/main" val="178689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6B5D29C-E14B-62B8-BFCD-A5FD48381966}"/>
              </a:ext>
            </a:extLst>
          </p:cNvPr>
          <p:cNvSpPr/>
          <p:nvPr/>
        </p:nvSpPr>
        <p:spPr>
          <a:xfrm>
            <a:off x="57760" y="0"/>
            <a:ext cx="12192000" cy="6858000"/>
          </a:xfrm>
          <a:prstGeom prst="rect">
            <a:avLst/>
          </a:prstGeom>
          <a:solidFill>
            <a:srgbClr val="02202D"/>
          </a:solidFill>
          <a:ln w="12838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400">
              <a:solidFill>
                <a:srgbClr val="517485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F36C05-32AB-D733-FE18-F064D95A7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833" y="245370"/>
            <a:ext cx="1322661" cy="14813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B0D750-1641-9C19-30F9-E5882974F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 rot="15811469">
            <a:off x="9564077" y="3101705"/>
            <a:ext cx="3064180" cy="14300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5BE7A2-4083-928A-ABCB-12EA50ECE4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64" b="94958" l="9434" r="89623">
                        <a14:foregroundMark x1="8491" y1="84034" x2="8491" y2="94958"/>
                        <a14:foregroundMark x1="8491" y1="94958" x2="34906" y2="99580"/>
                        <a14:foregroundMark x1="34906" y1="99580" x2="78302" y2="97899"/>
                        <a14:foregroundMark x1="78302" y1="97899" x2="88679" y2="89496"/>
                        <a14:foregroundMark x1="88679" y1="89496" x2="87736" y2="77731"/>
                        <a14:foregroundMark x1="87736" y1="77731" x2="61321" y2="83193"/>
                        <a14:foregroundMark x1="61321" y1="83193" x2="60377" y2="94958"/>
                        <a14:foregroundMark x1="60377" y1="94958" x2="59434" y2="932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5863974">
            <a:off x="9410687" y="-230589"/>
            <a:ext cx="1219157" cy="27373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318C92-86C5-35E1-96B4-53A5A9CC16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659" b="98295" l="9434" r="89623">
                        <a14:foregroundMark x1="18868" y1="86364" x2="79245" y2="97159"/>
                        <a14:foregroundMark x1="79245" y1="97159" x2="83019" y2="82386"/>
                        <a14:foregroundMark x1="83019" y1="82386" x2="85849" y2="98295"/>
                        <a14:foregroundMark x1="85849" y1="98295" x2="86792" y2="75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922" y="4162597"/>
            <a:ext cx="1475589" cy="24500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559EA7E-46BF-6283-A008-E09A5FFD2F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6" b="99390" l="9259" r="89815">
                        <a14:foregroundMark x1="87963" y1="70122" x2="45370" y2="83537"/>
                        <a14:foregroundMark x1="45370" y1="83537" x2="27778" y2="9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3993" y="5050327"/>
            <a:ext cx="1144107" cy="1737348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EF3287F-E105-20D1-237E-76BFF81E7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605873"/>
              </p:ext>
            </p:extLst>
          </p:nvPr>
        </p:nvGraphicFramePr>
        <p:xfrm>
          <a:off x="2677886" y="1600199"/>
          <a:ext cx="6836228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3E8505-CB17-94BC-5E2F-6D9EC74C5A7A}"/>
              </a:ext>
            </a:extLst>
          </p:cNvPr>
          <p:cNvSpPr txBox="1"/>
          <p:nvPr/>
        </p:nvSpPr>
        <p:spPr>
          <a:xfrm>
            <a:off x="18758386" y="986062"/>
            <a:ext cx="504293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>
                <a:solidFill>
                  <a:srgbClr val="FBC67D"/>
                </a:solidFill>
                <a:latin typeface="Amasis MT Pro Medium" panose="02040604050005020304" pitchFamily="18" charset="0"/>
              </a:rPr>
              <a:t>Puzzles Tell a Different Story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BEC5B8-9F10-3CD1-6E99-6750E2A49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519462"/>
              </p:ext>
            </p:extLst>
          </p:nvPr>
        </p:nvGraphicFramePr>
        <p:xfrm>
          <a:off x="21407062" y="2816542"/>
          <a:ext cx="4990926" cy="162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463">
                  <a:extLst>
                    <a:ext uri="{9D8B030D-6E8A-4147-A177-3AD203B41FA5}">
                      <a16:colId xmlns:a16="http://schemas.microsoft.com/office/drawing/2014/main" val="163117749"/>
                    </a:ext>
                  </a:extLst>
                </a:gridCol>
                <a:gridCol w="2495463">
                  <a:extLst>
                    <a:ext uri="{9D8B030D-6E8A-4147-A177-3AD203B41FA5}">
                      <a16:colId xmlns:a16="http://schemas.microsoft.com/office/drawing/2014/main" val="3521265930"/>
                    </a:ext>
                  </a:extLst>
                </a:gridCol>
              </a:tblGrid>
              <a:tr h="5404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Accuracy On 1M Puzzles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654181"/>
                  </a:ext>
                </a:extLst>
              </a:tr>
              <a:tr h="5404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CNN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38.07%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216458"/>
                  </a:ext>
                </a:extLst>
              </a:tr>
              <a:tr h="5404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BC67D"/>
                          </a:solidFill>
                        </a:rPr>
                        <a:t>37.91%</a:t>
                      </a:r>
                    </a:p>
                  </a:txBody>
                  <a:tcPr anchor="ctr">
                    <a:solidFill>
                      <a:srgbClr val="02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426210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F5FC45A-2ABC-8FC7-B77E-543DBD944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713427"/>
              </p:ext>
            </p:extLst>
          </p:nvPr>
        </p:nvGraphicFramePr>
        <p:xfrm>
          <a:off x="16240984" y="2077115"/>
          <a:ext cx="6306941" cy="2703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6286AFB-43FE-85C4-988D-61D7CD9CA76C}"/>
              </a:ext>
            </a:extLst>
          </p:cNvPr>
          <p:cNvSpPr txBox="1"/>
          <p:nvPr/>
        </p:nvSpPr>
        <p:spPr>
          <a:xfrm>
            <a:off x="18644769" y="5050327"/>
            <a:ext cx="60960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dirty="0">
                <a:solidFill>
                  <a:srgbClr val="FBC67D"/>
                </a:solidFill>
              </a:rPr>
              <a:t>Lines cross at ~1500 rating: task complexity determines winner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742F78-2373-1FFF-0073-05BB56CA4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92" b="85428" l="10000" r="90000">
                        <a14:foregroundMark x1="55833" y1="71186" x2="57500" y2="68644"/>
                        <a14:foregroundMark x1="56250" y1="72034" x2="55417" y2="68644"/>
                      </a14:backgroundRemoval>
                    </a14:imgEffect>
                  </a14:imgLayer>
                </a14:imgProps>
              </a:ext>
            </a:extLst>
          </a:blip>
          <a:srcRect b="5081"/>
          <a:stretch>
            <a:fillRect/>
          </a:stretch>
        </p:blipFill>
        <p:spPr>
          <a:xfrm rot="10095123">
            <a:off x="-1319485" y="2570075"/>
            <a:ext cx="3064180" cy="143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50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F71FC-BA69-3CAA-60C0-3D018A1A3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8C7D87E-A1D9-5285-17AF-73A3330C137B}"/>
              </a:ext>
            </a:extLst>
          </p:cNvPr>
          <p:cNvSpPr txBox="1"/>
          <p:nvPr/>
        </p:nvSpPr>
        <p:spPr>
          <a:xfrm>
            <a:off x="3052169" y="1011099"/>
            <a:ext cx="6087664" cy="10772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b="0" dirty="0">
                <a:solidFill>
                  <a:srgbClr val="FBC67D"/>
                </a:solidFill>
                <a:latin typeface="+mj-lt"/>
              </a:rPr>
              <a:t>Architecture Determines Intelligence Type</a:t>
            </a:r>
            <a:endParaRPr lang="ko-KR" altLang="en-US" b="0" dirty="0">
              <a:solidFill>
                <a:srgbClr val="FBC67D"/>
              </a:solidFill>
              <a:latin typeface="+mj-lt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9A885E0-9707-89BC-22CC-3976A87B6630}"/>
              </a:ext>
            </a:extLst>
          </p:cNvPr>
          <p:cNvGrpSpPr/>
          <p:nvPr/>
        </p:nvGrpSpPr>
        <p:grpSpPr>
          <a:xfrm>
            <a:off x="6455667" y="2871179"/>
            <a:ext cx="546026" cy="546024"/>
            <a:chOff x="752656" y="1562597"/>
            <a:chExt cx="390525" cy="390525"/>
          </a:xfrm>
          <a:solidFill>
            <a:srgbClr val="02202D"/>
          </a:solidFill>
        </p:grpSpPr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E5262E00-D227-FEC4-AA47-171F9406A89B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082D2CEE-9BAC-A3F1-3058-038822B2C6B9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DDC8285D-8582-E5A4-91B0-F8EA368FA08B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1C0EB6DB-A5DD-168B-A564-4F31EF1A97AA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A51AE289-2B0F-E999-EE47-A95CE4FF83CB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0B5B2A49-914D-22B8-0371-BFA3DCDF2F37}"/>
              </a:ext>
            </a:extLst>
          </p:cNvPr>
          <p:cNvSpPr/>
          <p:nvPr/>
        </p:nvSpPr>
        <p:spPr>
          <a:xfrm>
            <a:off x="6488962" y="5030865"/>
            <a:ext cx="479438" cy="546022"/>
          </a:xfrm>
          <a:custGeom>
            <a:avLst/>
            <a:gdLst>
              <a:gd name="connsiteX0" fmla="*/ 336869 w 342900"/>
              <a:gd name="connsiteY0" fmla="*/ 48482 h 390525"/>
              <a:gd name="connsiteX1" fmla="*/ 286006 w 342900"/>
              <a:gd name="connsiteY1" fmla="*/ 7144 h 390525"/>
              <a:gd name="connsiteX2" fmla="*/ 286006 w 342900"/>
              <a:gd name="connsiteY2" fmla="*/ 7144 h 390525"/>
              <a:gd name="connsiteX3" fmla="*/ 255716 w 342900"/>
              <a:gd name="connsiteY3" fmla="*/ 7144 h 390525"/>
              <a:gd name="connsiteX4" fmla="*/ 90172 w 342900"/>
              <a:gd name="connsiteY4" fmla="*/ 7144 h 390525"/>
              <a:gd name="connsiteX5" fmla="*/ 59882 w 342900"/>
              <a:gd name="connsiteY5" fmla="*/ 7144 h 390525"/>
              <a:gd name="connsiteX6" fmla="*/ 59882 w 342900"/>
              <a:gd name="connsiteY6" fmla="*/ 7144 h 390525"/>
              <a:gd name="connsiteX7" fmla="*/ 9019 w 342900"/>
              <a:gd name="connsiteY7" fmla="*/ 48482 h 390525"/>
              <a:gd name="connsiteX8" fmla="*/ 19592 w 342900"/>
              <a:gd name="connsiteY8" fmla="*/ 103727 h 390525"/>
              <a:gd name="connsiteX9" fmla="*/ 73217 w 342900"/>
              <a:gd name="connsiteY9" fmla="*/ 152305 h 390525"/>
              <a:gd name="connsiteX10" fmla="*/ 155704 w 342900"/>
              <a:gd name="connsiteY10" fmla="*/ 244126 h 390525"/>
              <a:gd name="connsiteX11" fmla="*/ 155704 w 342900"/>
              <a:gd name="connsiteY11" fmla="*/ 282035 h 390525"/>
              <a:gd name="connsiteX12" fmla="*/ 102459 w 342900"/>
              <a:gd name="connsiteY12" fmla="*/ 282035 h 390525"/>
              <a:gd name="connsiteX13" fmla="*/ 85124 w 342900"/>
              <a:gd name="connsiteY13" fmla="*/ 299371 h 390525"/>
              <a:gd name="connsiteX14" fmla="*/ 85124 w 342900"/>
              <a:gd name="connsiteY14" fmla="*/ 370332 h 390525"/>
              <a:gd name="connsiteX15" fmla="*/ 102459 w 342900"/>
              <a:gd name="connsiteY15" fmla="*/ 387667 h 390525"/>
              <a:gd name="connsiteX16" fmla="*/ 244001 w 342900"/>
              <a:gd name="connsiteY16" fmla="*/ 387667 h 390525"/>
              <a:gd name="connsiteX17" fmla="*/ 261336 w 342900"/>
              <a:gd name="connsiteY17" fmla="*/ 370332 h 390525"/>
              <a:gd name="connsiteX18" fmla="*/ 261336 w 342900"/>
              <a:gd name="connsiteY18" fmla="*/ 299371 h 390525"/>
              <a:gd name="connsiteX19" fmla="*/ 244001 w 342900"/>
              <a:gd name="connsiteY19" fmla="*/ 282035 h 390525"/>
              <a:gd name="connsiteX20" fmla="*/ 190756 w 342900"/>
              <a:gd name="connsiteY20" fmla="*/ 282035 h 390525"/>
              <a:gd name="connsiteX21" fmla="*/ 190756 w 342900"/>
              <a:gd name="connsiteY21" fmla="*/ 244221 h 390525"/>
              <a:gd name="connsiteX22" fmla="*/ 272862 w 342900"/>
              <a:gd name="connsiteY22" fmla="*/ 152305 h 390525"/>
              <a:gd name="connsiteX23" fmla="*/ 326297 w 342900"/>
              <a:gd name="connsiteY23" fmla="*/ 103822 h 390525"/>
              <a:gd name="connsiteX24" fmla="*/ 336869 w 342900"/>
              <a:gd name="connsiteY24" fmla="*/ 48482 h 390525"/>
              <a:gd name="connsiteX25" fmla="*/ 42833 w 342900"/>
              <a:gd name="connsiteY25" fmla="*/ 57340 h 390525"/>
              <a:gd name="connsiteX26" fmla="*/ 60168 w 342900"/>
              <a:gd name="connsiteY26" fmla="*/ 42005 h 390525"/>
              <a:gd name="connsiteX27" fmla="*/ 60168 w 342900"/>
              <a:gd name="connsiteY27" fmla="*/ 42005 h 390525"/>
              <a:gd name="connsiteX28" fmla="*/ 73217 w 342900"/>
              <a:gd name="connsiteY28" fmla="*/ 42005 h 390525"/>
              <a:gd name="connsiteX29" fmla="*/ 73313 w 342900"/>
              <a:gd name="connsiteY29" fmla="*/ 110871 h 390525"/>
              <a:gd name="connsiteX30" fmla="*/ 42833 w 342900"/>
              <a:gd name="connsiteY30" fmla="*/ 57340 h 390525"/>
              <a:gd name="connsiteX31" fmla="*/ 273052 w 342900"/>
              <a:gd name="connsiteY31" fmla="*/ 110776 h 390525"/>
              <a:gd name="connsiteX32" fmla="*/ 273052 w 342900"/>
              <a:gd name="connsiteY32" fmla="*/ 42005 h 390525"/>
              <a:gd name="connsiteX33" fmla="*/ 286101 w 342900"/>
              <a:gd name="connsiteY33" fmla="*/ 42005 h 390525"/>
              <a:gd name="connsiteX34" fmla="*/ 286101 w 342900"/>
              <a:gd name="connsiteY34" fmla="*/ 42005 h 390525"/>
              <a:gd name="connsiteX35" fmla="*/ 303436 w 342900"/>
              <a:gd name="connsiteY35" fmla="*/ 57340 h 390525"/>
              <a:gd name="connsiteX36" fmla="*/ 273052 w 342900"/>
              <a:gd name="connsiteY36" fmla="*/ 110776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2900" h="390525">
                <a:moveTo>
                  <a:pt x="336869" y="48482"/>
                </a:moveTo>
                <a:cubicBezTo>
                  <a:pt x="330678" y="24098"/>
                  <a:pt x="309723" y="7144"/>
                  <a:pt x="286006" y="7144"/>
                </a:cubicBezTo>
                <a:cubicBezTo>
                  <a:pt x="286006" y="7144"/>
                  <a:pt x="286006" y="7144"/>
                  <a:pt x="286006" y="7144"/>
                </a:cubicBezTo>
                <a:lnTo>
                  <a:pt x="255716" y="7144"/>
                </a:lnTo>
                <a:lnTo>
                  <a:pt x="90172" y="7144"/>
                </a:lnTo>
                <a:lnTo>
                  <a:pt x="59882" y="7144"/>
                </a:lnTo>
                <a:cubicBezTo>
                  <a:pt x="59882" y="7144"/>
                  <a:pt x="59882" y="7144"/>
                  <a:pt x="59882" y="7144"/>
                </a:cubicBezTo>
                <a:cubicBezTo>
                  <a:pt x="36165" y="7144"/>
                  <a:pt x="15305" y="24194"/>
                  <a:pt x="9019" y="48482"/>
                </a:cubicBezTo>
                <a:cubicBezTo>
                  <a:pt x="5876" y="60865"/>
                  <a:pt x="5113" y="80581"/>
                  <a:pt x="19592" y="103727"/>
                </a:cubicBezTo>
                <a:cubicBezTo>
                  <a:pt x="30640" y="121444"/>
                  <a:pt x="48738" y="137731"/>
                  <a:pt x="73217" y="152305"/>
                </a:cubicBezTo>
                <a:cubicBezTo>
                  <a:pt x="76265" y="198501"/>
                  <a:pt x="110841" y="236220"/>
                  <a:pt x="155704" y="244126"/>
                </a:cubicBezTo>
                <a:lnTo>
                  <a:pt x="155704" y="282035"/>
                </a:lnTo>
                <a:lnTo>
                  <a:pt x="102459" y="282035"/>
                </a:lnTo>
                <a:cubicBezTo>
                  <a:pt x="92934" y="282035"/>
                  <a:pt x="85124" y="289751"/>
                  <a:pt x="85124" y="299371"/>
                </a:cubicBezTo>
                <a:lnTo>
                  <a:pt x="85124" y="370332"/>
                </a:lnTo>
                <a:cubicBezTo>
                  <a:pt x="85124" y="379857"/>
                  <a:pt x="92839" y="387667"/>
                  <a:pt x="102459" y="387667"/>
                </a:cubicBezTo>
                <a:lnTo>
                  <a:pt x="244001" y="387667"/>
                </a:lnTo>
                <a:cubicBezTo>
                  <a:pt x="253526" y="387667"/>
                  <a:pt x="261336" y="379952"/>
                  <a:pt x="261336" y="370332"/>
                </a:cubicBezTo>
                <a:lnTo>
                  <a:pt x="261336" y="299371"/>
                </a:lnTo>
                <a:cubicBezTo>
                  <a:pt x="261336" y="289846"/>
                  <a:pt x="253621" y="282035"/>
                  <a:pt x="244001" y="282035"/>
                </a:cubicBezTo>
                <a:lnTo>
                  <a:pt x="190756" y="282035"/>
                </a:lnTo>
                <a:lnTo>
                  <a:pt x="190756" y="244221"/>
                </a:lnTo>
                <a:cubicBezTo>
                  <a:pt x="235238" y="236410"/>
                  <a:pt x="269908" y="198596"/>
                  <a:pt x="272862" y="152305"/>
                </a:cubicBezTo>
                <a:cubicBezTo>
                  <a:pt x="297246" y="137731"/>
                  <a:pt x="315247" y="121444"/>
                  <a:pt x="326297" y="103822"/>
                </a:cubicBezTo>
                <a:cubicBezTo>
                  <a:pt x="340774" y="80581"/>
                  <a:pt x="340013" y="60865"/>
                  <a:pt x="336869" y="48482"/>
                </a:cubicBezTo>
                <a:close/>
                <a:moveTo>
                  <a:pt x="42833" y="57340"/>
                </a:moveTo>
                <a:cubicBezTo>
                  <a:pt x="45405" y="47244"/>
                  <a:pt x="53501" y="42005"/>
                  <a:pt x="60168" y="42005"/>
                </a:cubicBezTo>
                <a:lnTo>
                  <a:pt x="60168" y="42005"/>
                </a:lnTo>
                <a:lnTo>
                  <a:pt x="73217" y="42005"/>
                </a:lnTo>
                <a:lnTo>
                  <a:pt x="73313" y="110871"/>
                </a:lnTo>
                <a:cubicBezTo>
                  <a:pt x="46643" y="90297"/>
                  <a:pt x="39499" y="70580"/>
                  <a:pt x="42833" y="57340"/>
                </a:cubicBezTo>
                <a:close/>
                <a:moveTo>
                  <a:pt x="273052" y="110776"/>
                </a:moveTo>
                <a:lnTo>
                  <a:pt x="273052" y="42005"/>
                </a:lnTo>
                <a:lnTo>
                  <a:pt x="286101" y="42005"/>
                </a:lnTo>
                <a:lnTo>
                  <a:pt x="286101" y="42005"/>
                </a:lnTo>
                <a:cubicBezTo>
                  <a:pt x="292769" y="42005"/>
                  <a:pt x="300865" y="47244"/>
                  <a:pt x="303436" y="57340"/>
                </a:cubicBezTo>
                <a:cubicBezTo>
                  <a:pt x="306865" y="70580"/>
                  <a:pt x="299722" y="90202"/>
                  <a:pt x="273052" y="110776"/>
                </a:cubicBezTo>
                <a:close/>
              </a:path>
            </a:pathLst>
          </a:custGeom>
          <a:solidFill>
            <a:srgbClr val="02202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4D71A2A-9850-93EE-AE88-D6D9C68A78A2}"/>
              </a:ext>
            </a:extLst>
          </p:cNvPr>
          <p:cNvSpPr/>
          <p:nvPr/>
        </p:nvSpPr>
        <p:spPr>
          <a:xfrm>
            <a:off x="675664" y="2471069"/>
            <a:ext cx="496248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BC67D"/>
                </a:solidFill>
                <a:latin typeface="+mj-lt"/>
              </a:rPr>
              <a:t>CNN = Tactical Calculator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Spatial inductive bias → geometric pattern recognition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Excels at: local tactics, endgame precision, geometric calculation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Consistent performance across game phases (84-85%)</a:t>
            </a:r>
            <a:endParaRPr lang="ko-KR" altLang="en-US" sz="2000" dirty="0">
              <a:solidFill>
                <a:srgbClr val="FBC67D"/>
              </a:solidFill>
              <a:latin typeface="+mj-lt"/>
            </a:endParaRPr>
          </a:p>
        </p:txBody>
      </p:sp>
      <p:sp>
        <p:nvSpPr>
          <p:cNvPr id="2" name="직사각형 59">
            <a:extLst>
              <a:ext uri="{FF2B5EF4-FFF2-40B4-BE49-F238E27FC236}">
                <a16:creationId xmlns:a16="http://schemas.microsoft.com/office/drawing/2014/main" id="{92A136DC-F09A-9E46-347C-B68E671308EC}"/>
              </a:ext>
            </a:extLst>
          </p:cNvPr>
          <p:cNvSpPr/>
          <p:nvPr/>
        </p:nvSpPr>
        <p:spPr>
          <a:xfrm>
            <a:off x="6455666" y="2441554"/>
            <a:ext cx="470100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BC67D"/>
                </a:solidFill>
                <a:latin typeface="+mj-lt"/>
              </a:rPr>
              <a:t>Transformer = Strategic Thinker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Global attention → non-local coordination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Excels at: opening theory, complex sacrifices, strategic planning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Phase-dependent: strong openings (95.8%), weak endgames (53.9%)</a:t>
            </a:r>
            <a:endParaRPr lang="ko-KR" altLang="en-US" sz="2000" dirty="0">
              <a:solidFill>
                <a:srgbClr val="FBC67D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43317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FA333-15A2-4371-C414-B45A1424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09E92F0-E07F-2A32-7FC3-9ACBF51930C6}"/>
              </a:ext>
            </a:extLst>
          </p:cNvPr>
          <p:cNvSpPr txBox="1"/>
          <p:nvPr/>
        </p:nvSpPr>
        <p:spPr>
          <a:xfrm>
            <a:off x="2988374" y="708906"/>
            <a:ext cx="6198156" cy="10772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b="0" dirty="0">
                <a:solidFill>
                  <a:srgbClr val="FBC67D"/>
                </a:solidFill>
                <a:latin typeface="+mj-lt"/>
              </a:rPr>
              <a:t>Qualitative Analysis : </a:t>
            </a:r>
          </a:p>
          <a:p>
            <a:pPr algn="ctr"/>
            <a:r>
              <a:rPr lang="en-US" altLang="ko-KR" b="0" dirty="0">
                <a:solidFill>
                  <a:srgbClr val="FBC67D"/>
                </a:solidFill>
                <a:latin typeface="+mj-lt"/>
              </a:rPr>
              <a:t>Why Transformers Fail at Endgames</a:t>
            </a:r>
            <a:endParaRPr lang="ko-KR" altLang="en-US" b="0" dirty="0">
              <a:solidFill>
                <a:srgbClr val="FBC67D"/>
              </a:solidFill>
              <a:latin typeface="+mj-lt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A48025C-57E9-BCBB-4B1A-5466716C32CC}"/>
              </a:ext>
            </a:extLst>
          </p:cNvPr>
          <p:cNvGrpSpPr/>
          <p:nvPr/>
        </p:nvGrpSpPr>
        <p:grpSpPr>
          <a:xfrm>
            <a:off x="6455667" y="2871179"/>
            <a:ext cx="546026" cy="546024"/>
            <a:chOff x="752656" y="1562597"/>
            <a:chExt cx="390525" cy="390525"/>
          </a:xfrm>
          <a:solidFill>
            <a:srgbClr val="02202D"/>
          </a:solidFill>
        </p:grpSpPr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892D1413-501F-2FE9-85EB-AFB1A854EF61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A3FC2279-CDBA-B0D6-B221-131B710AE18A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3919C0D6-3FA7-9CCA-53F8-175E36F6979C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BA90CA8E-0F72-4904-552F-57A848503AB3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0FA3675B-50F1-2159-1D9C-8703E428D260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A960B1AE-6F07-2267-994A-7969549DEF55}"/>
              </a:ext>
            </a:extLst>
          </p:cNvPr>
          <p:cNvSpPr/>
          <p:nvPr/>
        </p:nvSpPr>
        <p:spPr>
          <a:xfrm>
            <a:off x="6488962" y="5030865"/>
            <a:ext cx="479438" cy="546022"/>
          </a:xfrm>
          <a:custGeom>
            <a:avLst/>
            <a:gdLst>
              <a:gd name="connsiteX0" fmla="*/ 336869 w 342900"/>
              <a:gd name="connsiteY0" fmla="*/ 48482 h 390525"/>
              <a:gd name="connsiteX1" fmla="*/ 286006 w 342900"/>
              <a:gd name="connsiteY1" fmla="*/ 7144 h 390525"/>
              <a:gd name="connsiteX2" fmla="*/ 286006 w 342900"/>
              <a:gd name="connsiteY2" fmla="*/ 7144 h 390525"/>
              <a:gd name="connsiteX3" fmla="*/ 255716 w 342900"/>
              <a:gd name="connsiteY3" fmla="*/ 7144 h 390525"/>
              <a:gd name="connsiteX4" fmla="*/ 90172 w 342900"/>
              <a:gd name="connsiteY4" fmla="*/ 7144 h 390525"/>
              <a:gd name="connsiteX5" fmla="*/ 59882 w 342900"/>
              <a:gd name="connsiteY5" fmla="*/ 7144 h 390525"/>
              <a:gd name="connsiteX6" fmla="*/ 59882 w 342900"/>
              <a:gd name="connsiteY6" fmla="*/ 7144 h 390525"/>
              <a:gd name="connsiteX7" fmla="*/ 9019 w 342900"/>
              <a:gd name="connsiteY7" fmla="*/ 48482 h 390525"/>
              <a:gd name="connsiteX8" fmla="*/ 19592 w 342900"/>
              <a:gd name="connsiteY8" fmla="*/ 103727 h 390525"/>
              <a:gd name="connsiteX9" fmla="*/ 73217 w 342900"/>
              <a:gd name="connsiteY9" fmla="*/ 152305 h 390525"/>
              <a:gd name="connsiteX10" fmla="*/ 155704 w 342900"/>
              <a:gd name="connsiteY10" fmla="*/ 244126 h 390525"/>
              <a:gd name="connsiteX11" fmla="*/ 155704 w 342900"/>
              <a:gd name="connsiteY11" fmla="*/ 282035 h 390525"/>
              <a:gd name="connsiteX12" fmla="*/ 102459 w 342900"/>
              <a:gd name="connsiteY12" fmla="*/ 282035 h 390525"/>
              <a:gd name="connsiteX13" fmla="*/ 85124 w 342900"/>
              <a:gd name="connsiteY13" fmla="*/ 299371 h 390525"/>
              <a:gd name="connsiteX14" fmla="*/ 85124 w 342900"/>
              <a:gd name="connsiteY14" fmla="*/ 370332 h 390525"/>
              <a:gd name="connsiteX15" fmla="*/ 102459 w 342900"/>
              <a:gd name="connsiteY15" fmla="*/ 387667 h 390525"/>
              <a:gd name="connsiteX16" fmla="*/ 244001 w 342900"/>
              <a:gd name="connsiteY16" fmla="*/ 387667 h 390525"/>
              <a:gd name="connsiteX17" fmla="*/ 261336 w 342900"/>
              <a:gd name="connsiteY17" fmla="*/ 370332 h 390525"/>
              <a:gd name="connsiteX18" fmla="*/ 261336 w 342900"/>
              <a:gd name="connsiteY18" fmla="*/ 299371 h 390525"/>
              <a:gd name="connsiteX19" fmla="*/ 244001 w 342900"/>
              <a:gd name="connsiteY19" fmla="*/ 282035 h 390525"/>
              <a:gd name="connsiteX20" fmla="*/ 190756 w 342900"/>
              <a:gd name="connsiteY20" fmla="*/ 282035 h 390525"/>
              <a:gd name="connsiteX21" fmla="*/ 190756 w 342900"/>
              <a:gd name="connsiteY21" fmla="*/ 244221 h 390525"/>
              <a:gd name="connsiteX22" fmla="*/ 272862 w 342900"/>
              <a:gd name="connsiteY22" fmla="*/ 152305 h 390525"/>
              <a:gd name="connsiteX23" fmla="*/ 326297 w 342900"/>
              <a:gd name="connsiteY23" fmla="*/ 103822 h 390525"/>
              <a:gd name="connsiteX24" fmla="*/ 336869 w 342900"/>
              <a:gd name="connsiteY24" fmla="*/ 48482 h 390525"/>
              <a:gd name="connsiteX25" fmla="*/ 42833 w 342900"/>
              <a:gd name="connsiteY25" fmla="*/ 57340 h 390525"/>
              <a:gd name="connsiteX26" fmla="*/ 60168 w 342900"/>
              <a:gd name="connsiteY26" fmla="*/ 42005 h 390525"/>
              <a:gd name="connsiteX27" fmla="*/ 60168 w 342900"/>
              <a:gd name="connsiteY27" fmla="*/ 42005 h 390525"/>
              <a:gd name="connsiteX28" fmla="*/ 73217 w 342900"/>
              <a:gd name="connsiteY28" fmla="*/ 42005 h 390525"/>
              <a:gd name="connsiteX29" fmla="*/ 73313 w 342900"/>
              <a:gd name="connsiteY29" fmla="*/ 110871 h 390525"/>
              <a:gd name="connsiteX30" fmla="*/ 42833 w 342900"/>
              <a:gd name="connsiteY30" fmla="*/ 57340 h 390525"/>
              <a:gd name="connsiteX31" fmla="*/ 273052 w 342900"/>
              <a:gd name="connsiteY31" fmla="*/ 110776 h 390525"/>
              <a:gd name="connsiteX32" fmla="*/ 273052 w 342900"/>
              <a:gd name="connsiteY32" fmla="*/ 42005 h 390525"/>
              <a:gd name="connsiteX33" fmla="*/ 286101 w 342900"/>
              <a:gd name="connsiteY33" fmla="*/ 42005 h 390525"/>
              <a:gd name="connsiteX34" fmla="*/ 286101 w 342900"/>
              <a:gd name="connsiteY34" fmla="*/ 42005 h 390525"/>
              <a:gd name="connsiteX35" fmla="*/ 303436 w 342900"/>
              <a:gd name="connsiteY35" fmla="*/ 57340 h 390525"/>
              <a:gd name="connsiteX36" fmla="*/ 273052 w 342900"/>
              <a:gd name="connsiteY36" fmla="*/ 110776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2900" h="390525">
                <a:moveTo>
                  <a:pt x="336869" y="48482"/>
                </a:moveTo>
                <a:cubicBezTo>
                  <a:pt x="330678" y="24098"/>
                  <a:pt x="309723" y="7144"/>
                  <a:pt x="286006" y="7144"/>
                </a:cubicBezTo>
                <a:cubicBezTo>
                  <a:pt x="286006" y="7144"/>
                  <a:pt x="286006" y="7144"/>
                  <a:pt x="286006" y="7144"/>
                </a:cubicBezTo>
                <a:lnTo>
                  <a:pt x="255716" y="7144"/>
                </a:lnTo>
                <a:lnTo>
                  <a:pt x="90172" y="7144"/>
                </a:lnTo>
                <a:lnTo>
                  <a:pt x="59882" y="7144"/>
                </a:lnTo>
                <a:cubicBezTo>
                  <a:pt x="59882" y="7144"/>
                  <a:pt x="59882" y="7144"/>
                  <a:pt x="59882" y="7144"/>
                </a:cubicBezTo>
                <a:cubicBezTo>
                  <a:pt x="36165" y="7144"/>
                  <a:pt x="15305" y="24194"/>
                  <a:pt x="9019" y="48482"/>
                </a:cubicBezTo>
                <a:cubicBezTo>
                  <a:pt x="5876" y="60865"/>
                  <a:pt x="5113" y="80581"/>
                  <a:pt x="19592" y="103727"/>
                </a:cubicBezTo>
                <a:cubicBezTo>
                  <a:pt x="30640" y="121444"/>
                  <a:pt x="48738" y="137731"/>
                  <a:pt x="73217" y="152305"/>
                </a:cubicBezTo>
                <a:cubicBezTo>
                  <a:pt x="76265" y="198501"/>
                  <a:pt x="110841" y="236220"/>
                  <a:pt x="155704" y="244126"/>
                </a:cubicBezTo>
                <a:lnTo>
                  <a:pt x="155704" y="282035"/>
                </a:lnTo>
                <a:lnTo>
                  <a:pt x="102459" y="282035"/>
                </a:lnTo>
                <a:cubicBezTo>
                  <a:pt x="92934" y="282035"/>
                  <a:pt x="85124" y="289751"/>
                  <a:pt x="85124" y="299371"/>
                </a:cubicBezTo>
                <a:lnTo>
                  <a:pt x="85124" y="370332"/>
                </a:lnTo>
                <a:cubicBezTo>
                  <a:pt x="85124" y="379857"/>
                  <a:pt x="92839" y="387667"/>
                  <a:pt x="102459" y="387667"/>
                </a:cubicBezTo>
                <a:lnTo>
                  <a:pt x="244001" y="387667"/>
                </a:lnTo>
                <a:cubicBezTo>
                  <a:pt x="253526" y="387667"/>
                  <a:pt x="261336" y="379952"/>
                  <a:pt x="261336" y="370332"/>
                </a:cubicBezTo>
                <a:lnTo>
                  <a:pt x="261336" y="299371"/>
                </a:lnTo>
                <a:cubicBezTo>
                  <a:pt x="261336" y="289846"/>
                  <a:pt x="253621" y="282035"/>
                  <a:pt x="244001" y="282035"/>
                </a:cubicBezTo>
                <a:lnTo>
                  <a:pt x="190756" y="282035"/>
                </a:lnTo>
                <a:lnTo>
                  <a:pt x="190756" y="244221"/>
                </a:lnTo>
                <a:cubicBezTo>
                  <a:pt x="235238" y="236410"/>
                  <a:pt x="269908" y="198596"/>
                  <a:pt x="272862" y="152305"/>
                </a:cubicBezTo>
                <a:cubicBezTo>
                  <a:pt x="297246" y="137731"/>
                  <a:pt x="315247" y="121444"/>
                  <a:pt x="326297" y="103822"/>
                </a:cubicBezTo>
                <a:cubicBezTo>
                  <a:pt x="340774" y="80581"/>
                  <a:pt x="340013" y="60865"/>
                  <a:pt x="336869" y="48482"/>
                </a:cubicBezTo>
                <a:close/>
                <a:moveTo>
                  <a:pt x="42833" y="57340"/>
                </a:moveTo>
                <a:cubicBezTo>
                  <a:pt x="45405" y="47244"/>
                  <a:pt x="53501" y="42005"/>
                  <a:pt x="60168" y="42005"/>
                </a:cubicBezTo>
                <a:lnTo>
                  <a:pt x="60168" y="42005"/>
                </a:lnTo>
                <a:lnTo>
                  <a:pt x="73217" y="42005"/>
                </a:lnTo>
                <a:lnTo>
                  <a:pt x="73313" y="110871"/>
                </a:lnTo>
                <a:cubicBezTo>
                  <a:pt x="46643" y="90297"/>
                  <a:pt x="39499" y="70580"/>
                  <a:pt x="42833" y="57340"/>
                </a:cubicBezTo>
                <a:close/>
                <a:moveTo>
                  <a:pt x="273052" y="110776"/>
                </a:moveTo>
                <a:lnTo>
                  <a:pt x="273052" y="42005"/>
                </a:lnTo>
                <a:lnTo>
                  <a:pt x="286101" y="42005"/>
                </a:lnTo>
                <a:lnTo>
                  <a:pt x="286101" y="42005"/>
                </a:lnTo>
                <a:cubicBezTo>
                  <a:pt x="292769" y="42005"/>
                  <a:pt x="300865" y="47244"/>
                  <a:pt x="303436" y="57340"/>
                </a:cubicBezTo>
                <a:cubicBezTo>
                  <a:pt x="306865" y="70580"/>
                  <a:pt x="299722" y="90202"/>
                  <a:pt x="273052" y="110776"/>
                </a:cubicBezTo>
                <a:close/>
              </a:path>
            </a:pathLst>
          </a:custGeom>
          <a:solidFill>
            <a:srgbClr val="02202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C1711BD-1CAD-150E-9E28-AB52412D239E}"/>
              </a:ext>
            </a:extLst>
          </p:cNvPr>
          <p:cNvSpPr/>
          <p:nvPr/>
        </p:nvSpPr>
        <p:spPr>
          <a:xfrm>
            <a:off x="536516" y="1976374"/>
            <a:ext cx="67190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BC67D"/>
                </a:solidFill>
                <a:latin typeface="+mj-lt"/>
              </a:rPr>
              <a:t>Endgames require precise geometric calculation: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King opposition (adjacent squares matter)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Square of the pawn (exact distance calculation)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Triangulation (geometric maneuvering)</a:t>
            </a:r>
            <a:endParaRPr lang="ko-KR" altLang="en-US" sz="2000" dirty="0">
              <a:solidFill>
                <a:srgbClr val="FBC67D"/>
              </a:solidFill>
              <a:latin typeface="+mj-lt"/>
            </a:endParaRPr>
          </a:p>
        </p:txBody>
      </p:sp>
      <p:sp>
        <p:nvSpPr>
          <p:cNvPr id="3" name="직사각형 59">
            <a:extLst>
              <a:ext uri="{FF2B5EF4-FFF2-40B4-BE49-F238E27FC236}">
                <a16:creationId xmlns:a16="http://schemas.microsoft.com/office/drawing/2014/main" id="{70988512-06BA-CCF7-207F-3562829E98C8}"/>
              </a:ext>
            </a:extLst>
          </p:cNvPr>
          <p:cNvSpPr/>
          <p:nvPr/>
        </p:nvSpPr>
        <p:spPr>
          <a:xfrm>
            <a:off x="4326638" y="3741869"/>
            <a:ext cx="67190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FBC67D"/>
                </a:solidFill>
                <a:latin typeface="+mj-lt"/>
              </a:rPr>
              <a:t>Transformer limitation: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FBC67D"/>
                </a:solidFill>
                <a:latin typeface="+mj-lt"/>
              </a:rPr>
              <a:t>Must learn all spatial relationships from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FBC67D"/>
                </a:solidFill>
                <a:latin typeface="+mj-lt"/>
              </a:rPr>
              <a:t>Learned representations fail to generalize</a:t>
            </a:r>
          </a:p>
        </p:txBody>
      </p:sp>
    </p:spTree>
    <p:extLst>
      <p:ext uri="{BB962C8B-B14F-4D97-AF65-F5344CB8AC3E}">
        <p14:creationId xmlns:p14="http://schemas.microsoft.com/office/powerpoint/2010/main" val="31785407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A8135-AA8D-69B7-1CBE-0A785901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F06F4FC-91FA-83D1-E9ED-17F391068F6B}"/>
              </a:ext>
            </a:extLst>
          </p:cNvPr>
          <p:cNvSpPr txBox="1"/>
          <p:nvPr/>
        </p:nvSpPr>
        <p:spPr>
          <a:xfrm>
            <a:off x="2341520" y="956434"/>
            <a:ext cx="7234831" cy="10772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b="0" dirty="0">
                <a:solidFill>
                  <a:srgbClr val="FBC67D"/>
                </a:solidFill>
                <a:latin typeface="+mj-lt"/>
              </a:rPr>
              <a:t>Conclusion</a:t>
            </a:r>
          </a:p>
          <a:p>
            <a:pPr algn="ctr"/>
            <a:r>
              <a:rPr lang="en-US" altLang="ko-KR" b="0" dirty="0">
                <a:solidFill>
                  <a:srgbClr val="FBC67D"/>
                </a:solidFill>
                <a:latin typeface="+mj-lt"/>
              </a:rPr>
              <a:t>Same Training, Different Chess Minds</a:t>
            </a:r>
            <a:endParaRPr lang="ko-KR" altLang="en-US" b="0" dirty="0">
              <a:solidFill>
                <a:srgbClr val="FBC67D"/>
              </a:solidFill>
              <a:latin typeface="+mj-lt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4E39569-8C1C-3459-9422-C3B91674BFFA}"/>
              </a:ext>
            </a:extLst>
          </p:cNvPr>
          <p:cNvGrpSpPr/>
          <p:nvPr/>
        </p:nvGrpSpPr>
        <p:grpSpPr>
          <a:xfrm>
            <a:off x="6455667" y="2871179"/>
            <a:ext cx="546026" cy="546024"/>
            <a:chOff x="752656" y="1562597"/>
            <a:chExt cx="390525" cy="390525"/>
          </a:xfrm>
          <a:solidFill>
            <a:srgbClr val="02202D"/>
          </a:solidFill>
        </p:grpSpPr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6380A43-A070-C5D0-E8C7-EEB4EA00DEF6}"/>
                </a:ext>
              </a:extLst>
            </p:cNvPr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>
                <a:gd name="connsiteX0" fmla="*/ 26568 w 209550"/>
                <a:gd name="connsiteY0" fmla="*/ 159925 h 161925"/>
                <a:gd name="connsiteX1" fmla="*/ 85528 w 209550"/>
                <a:gd name="connsiteY1" fmla="*/ 100965 h 161925"/>
                <a:gd name="connsiteX2" fmla="*/ 102292 w 209550"/>
                <a:gd name="connsiteY2" fmla="*/ 117729 h 161925"/>
                <a:gd name="connsiteX3" fmla="*/ 113437 w 209550"/>
                <a:gd name="connsiteY3" fmla="*/ 117729 h 161925"/>
                <a:gd name="connsiteX4" fmla="*/ 185922 w 209550"/>
                <a:gd name="connsiteY4" fmla="*/ 45244 h 161925"/>
                <a:gd name="connsiteX5" fmla="*/ 185922 w 209550"/>
                <a:gd name="connsiteY5" fmla="*/ 64770 h 161925"/>
                <a:gd name="connsiteX6" fmla="*/ 189065 w 209550"/>
                <a:gd name="connsiteY6" fmla="*/ 71152 h 161925"/>
                <a:gd name="connsiteX7" fmla="*/ 208210 w 209550"/>
                <a:gd name="connsiteY7" fmla="*/ 62865 h 161925"/>
                <a:gd name="connsiteX8" fmla="*/ 208210 w 209550"/>
                <a:gd name="connsiteY8" fmla="*/ 18288 h 161925"/>
                <a:gd name="connsiteX9" fmla="*/ 197066 w 209550"/>
                <a:gd name="connsiteY9" fmla="*/ 7144 h 161925"/>
                <a:gd name="connsiteX10" fmla="*/ 150584 w 209550"/>
                <a:gd name="connsiteY10" fmla="*/ 7144 h 161925"/>
                <a:gd name="connsiteX11" fmla="*/ 144202 w 209550"/>
                <a:gd name="connsiteY11" fmla="*/ 10287 h 161925"/>
                <a:gd name="connsiteX12" fmla="*/ 152489 w 209550"/>
                <a:gd name="connsiteY12" fmla="*/ 29432 h 161925"/>
                <a:gd name="connsiteX13" fmla="*/ 170205 w 209550"/>
                <a:gd name="connsiteY13" fmla="*/ 29432 h 161925"/>
                <a:gd name="connsiteX14" fmla="*/ 107912 w 209550"/>
                <a:gd name="connsiteY14" fmla="*/ 91726 h 161925"/>
                <a:gd name="connsiteX15" fmla="*/ 91148 w 209550"/>
                <a:gd name="connsiteY15" fmla="*/ 74962 h 161925"/>
                <a:gd name="connsiteX16" fmla="*/ 80004 w 209550"/>
                <a:gd name="connsiteY16" fmla="*/ 74962 h 161925"/>
                <a:gd name="connsiteX17" fmla="*/ 9519 w 209550"/>
                <a:gd name="connsiteY17" fmla="*/ 145447 h 161925"/>
                <a:gd name="connsiteX18" fmla="*/ 7233 w 209550"/>
                <a:gd name="connsiteY18" fmla="*/ 152209 h 161925"/>
                <a:gd name="connsiteX19" fmla="*/ 26568 w 209550"/>
                <a:gd name="connsiteY19" fmla="*/ 159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9550" h="161925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BFBF636D-F8F0-FA0D-003D-937480BB7718}"/>
                </a:ext>
              </a:extLst>
            </p:cNvPr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>
                <a:gd name="connsiteX0" fmla="*/ 18288 w 95250"/>
                <a:gd name="connsiteY0" fmla="*/ 97822 h 104775"/>
                <a:gd name="connsiteX1" fmla="*/ 85154 w 95250"/>
                <a:gd name="connsiteY1" fmla="*/ 97822 h 104775"/>
                <a:gd name="connsiteX2" fmla="*/ 96298 w 95250"/>
                <a:gd name="connsiteY2" fmla="*/ 86677 h 104775"/>
                <a:gd name="connsiteX3" fmla="*/ 96298 w 95250"/>
                <a:gd name="connsiteY3" fmla="*/ 18288 h 104775"/>
                <a:gd name="connsiteX4" fmla="*/ 85154 w 95250"/>
                <a:gd name="connsiteY4" fmla="*/ 7144 h 104775"/>
                <a:gd name="connsiteX5" fmla="*/ 18288 w 95250"/>
                <a:gd name="connsiteY5" fmla="*/ 7144 h 104775"/>
                <a:gd name="connsiteX6" fmla="*/ 7144 w 95250"/>
                <a:gd name="connsiteY6" fmla="*/ 18288 h 104775"/>
                <a:gd name="connsiteX7" fmla="*/ 7144 w 95250"/>
                <a:gd name="connsiteY7" fmla="*/ 86677 h 104775"/>
                <a:gd name="connsiteX8" fmla="*/ 18288 w 95250"/>
                <a:gd name="connsiteY8" fmla="*/ 978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04775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EE80E7E3-2986-4C98-97C5-DBE3FBBF1602}"/>
                </a:ext>
              </a:extLst>
            </p:cNvPr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>
                <a:gd name="connsiteX0" fmla="*/ 85153 w 95250"/>
                <a:gd name="connsiteY0" fmla="*/ 7144 h 171450"/>
                <a:gd name="connsiteX1" fmla="*/ 18288 w 95250"/>
                <a:gd name="connsiteY1" fmla="*/ 7144 h 171450"/>
                <a:gd name="connsiteX2" fmla="*/ 7144 w 95250"/>
                <a:gd name="connsiteY2" fmla="*/ 18288 h 171450"/>
                <a:gd name="connsiteX3" fmla="*/ 7144 w 95250"/>
                <a:gd name="connsiteY3" fmla="*/ 153543 h 171450"/>
                <a:gd name="connsiteX4" fmla="*/ 18288 w 95250"/>
                <a:gd name="connsiteY4" fmla="*/ 164687 h 171450"/>
                <a:gd name="connsiteX5" fmla="*/ 85153 w 95250"/>
                <a:gd name="connsiteY5" fmla="*/ 164687 h 171450"/>
                <a:gd name="connsiteX6" fmla="*/ 96298 w 95250"/>
                <a:gd name="connsiteY6" fmla="*/ 153543 h 171450"/>
                <a:gd name="connsiteX7" fmla="*/ 96298 w 95250"/>
                <a:gd name="connsiteY7" fmla="*/ 18288 h 171450"/>
                <a:gd name="connsiteX8" fmla="*/ 85153 w 95250"/>
                <a:gd name="connsiteY8" fmla="*/ 714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17145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885C8DE5-E415-A0EC-D3FC-BD6F926208DF}"/>
                </a:ext>
              </a:extLst>
            </p:cNvPr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>
                <a:gd name="connsiteX0" fmla="*/ 18291 w 142875"/>
                <a:gd name="connsiteY0" fmla="*/ 118205 h 304800"/>
                <a:gd name="connsiteX1" fmla="*/ 29435 w 142875"/>
                <a:gd name="connsiteY1" fmla="*/ 118205 h 304800"/>
                <a:gd name="connsiteX2" fmla="*/ 29435 w 142875"/>
                <a:gd name="connsiteY2" fmla="*/ 286893 h 304800"/>
                <a:gd name="connsiteX3" fmla="*/ 40580 w 142875"/>
                <a:gd name="connsiteY3" fmla="*/ 298037 h 304800"/>
                <a:gd name="connsiteX4" fmla="*/ 108207 w 142875"/>
                <a:gd name="connsiteY4" fmla="*/ 298037 h 304800"/>
                <a:gd name="connsiteX5" fmla="*/ 119352 w 142875"/>
                <a:gd name="connsiteY5" fmla="*/ 286893 h 304800"/>
                <a:gd name="connsiteX6" fmla="*/ 119352 w 142875"/>
                <a:gd name="connsiteY6" fmla="*/ 118205 h 304800"/>
                <a:gd name="connsiteX7" fmla="*/ 130496 w 142875"/>
                <a:gd name="connsiteY7" fmla="*/ 118205 h 304800"/>
                <a:gd name="connsiteX8" fmla="*/ 140211 w 142875"/>
                <a:gd name="connsiteY8" fmla="*/ 112490 h 304800"/>
                <a:gd name="connsiteX9" fmla="*/ 139926 w 142875"/>
                <a:gd name="connsiteY9" fmla="*/ 101156 h 304800"/>
                <a:gd name="connsiteX10" fmla="*/ 83442 w 142875"/>
                <a:gd name="connsiteY10" fmla="*/ 12002 h 304800"/>
                <a:gd name="connsiteX11" fmla="*/ 64583 w 142875"/>
                <a:gd name="connsiteY11" fmla="*/ 12002 h 304800"/>
                <a:gd name="connsiteX12" fmla="*/ 8861 w 142875"/>
                <a:gd name="connsiteY12" fmla="*/ 101156 h 304800"/>
                <a:gd name="connsiteX13" fmla="*/ 8576 w 142875"/>
                <a:gd name="connsiteY13" fmla="*/ 112490 h 304800"/>
                <a:gd name="connsiteX14" fmla="*/ 18291 w 142875"/>
                <a:gd name="connsiteY14" fmla="*/ 118205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875" h="30480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2E7ED17-0A41-6CD9-1B54-87A81E62C8A4}"/>
                </a:ext>
              </a:extLst>
            </p:cNvPr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>
                <a:gd name="connsiteX0" fmla="*/ 376142 w 390525"/>
                <a:gd name="connsiteY0" fmla="*/ 365262 h 390525"/>
                <a:gd name="connsiteX1" fmla="*/ 29432 w 390525"/>
                <a:gd name="connsiteY1" fmla="*/ 365262 h 390525"/>
                <a:gd name="connsiteX2" fmla="*/ 29432 w 390525"/>
                <a:gd name="connsiteY2" fmla="*/ 18552 h 390525"/>
                <a:gd name="connsiteX3" fmla="*/ 19526 w 390525"/>
                <a:gd name="connsiteY3" fmla="*/ 7218 h 390525"/>
                <a:gd name="connsiteX4" fmla="*/ 7144 w 390525"/>
                <a:gd name="connsiteY4" fmla="*/ 18267 h 390525"/>
                <a:gd name="connsiteX5" fmla="*/ 7144 w 390525"/>
                <a:gd name="connsiteY5" fmla="*/ 376407 h 390525"/>
                <a:gd name="connsiteX6" fmla="*/ 18288 w 390525"/>
                <a:gd name="connsiteY6" fmla="*/ 387551 h 390525"/>
                <a:gd name="connsiteX7" fmla="*/ 376428 w 390525"/>
                <a:gd name="connsiteY7" fmla="*/ 387551 h 390525"/>
                <a:gd name="connsiteX8" fmla="*/ 387477 w 390525"/>
                <a:gd name="connsiteY8" fmla="*/ 375168 h 390525"/>
                <a:gd name="connsiteX9" fmla="*/ 376142 w 390525"/>
                <a:gd name="connsiteY9" fmla="*/ 365262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525" h="390525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93F02590-3EAF-9FC2-1A7D-6DA2A3578731}"/>
              </a:ext>
            </a:extLst>
          </p:cNvPr>
          <p:cNvSpPr/>
          <p:nvPr/>
        </p:nvSpPr>
        <p:spPr>
          <a:xfrm>
            <a:off x="6488962" y="5030865"/>
            <a:ext cx="479438" cy="546022"/>
          </a:xfrm>
          <a:custGeom>
            <a:avLst/>
            <a:gdLst>
              <a:gd name="connsiteX0" fmla="*/ 336869 w 342900"/>
              <a:gd name="connsiteY0" fmla="*/ 48482 h 390525"/>
              <a:gd name="connsiteX1" fmla="*/ 286006 w 342900"/>
              <a:gd name="connsiteY1" fmla="*/ 7144 h 390525"/>
              <a:gd name="connsiteX2" fmla="*/ 286006 w 342900"/>
              <a:gd name="connsiteY2" fmla="*/ 7144 h 390525"/>
              <a:gd name="connsiteX3" fmla="*/ 255716 w 342900"/>
              <a:gd name="connsiteY3" fmla="*/ 7144 h 390525"/>
              <a:gd name="connsiteX4" fmla="*/ 90172 w 342900"/>
              <a:gd name="connsiteY4" fmla="*/ 7144 h 390525"/>
              <a:gd name="connsiteX5" fmla="*/ 59882 w 342900"/>
              <a:gd name="connsiteY5" fmla="*/ 7144 h 390525"/>
              <a:gd name="connsiteX6" fmla="*/ 59882 w 342900"/>
              <a:gd name="connsiteY6" fmla="*/ 7144 h 390525"/>
              <a:gd name="connsiteX7" fmla="*/ 9019 w 342900"/>
              <a:gd name="connsiteY7" fmla="*/ 48482 h 390525"/>
              <a:gd name="connsiteX8" fmla="*/ 19592 w 342900"/>
              <a:gd name="connsiteY8" fmla="*/ 103727 h 390525"/>
              <a:gd name="connsiteX9" fmla="*/ 73217 w 342900"/>
              <a:gd name="connsiteY9" fmla="*/ 152305 h 390525"/>
              <a:gd name="connsiteX10" fmla="*/ 155704 w 342900"/>
              <a:gd name="connsiteY10" fmla="*/ 244126 h 390525"/>
              <a:gd name="connsiteX11" fmla="*/ 155704 w 342900"/>
              <a:gd name="connsiteY11" fmla="*/ 282035 h 390525"/>
              <a:gd name="connsiteX12" fmla="*/ 102459 w 342900"/>
              <a:gd name="connsiteY12" fmla="*/ 282035 h 390525"/>
              <a:gd name="connsiteX13" fmla="*/ 85124 w 342900"/>
              <a:gd name="connsiteY13" fmla="*/ 299371 h 390525"/>
              <a:gd name="connsiteX14" fmla="*/ 85124 w 342900"/>
              <a:gd name="connsiteY14" fmla="*/ 370332 h 390525"/>
              <a:gd name="connsiteX15" fmla="*/ 102459 w 342900"/>
              <a:gd name="connsiteY15" fmla="*/ 387667 h 390525"/>
              <a:gd name="connsiteX16" fmla="*/ 244001 w 342900"/>
              <a:gd name="connsiteY16" fmla="*/ 387667 h 390525"/>
              <a:gd name="connsiteX17" fmla="*/ 261336 w 342900"/>
              <a:gd name="connsiteY17" fmla="*/ 370332 h 390525"/>
              <a:gd name="connsiteX18" fmla="*/ 261336 w 342900"/>
              <a:gd name="connsiteY18" fmla="*/ 299371 h 390525"/>
              <a:gd name="connsiteX19" fmla="*/ 244001 w 342900"/>
              <a:gd name="connsiteY19" fmla="*/ 282035 h 390525"/>
              <a:gd name="connsiteX20" fmla="*/ 190756 w 342900"/>
              <a:gd name="connsiteY20" fmla="*/ 282035 h 390525"/>
              <a:gd name="connsiteX21" fmla="*/ 190756 w 342900"/>
              <a:gd name="connsiteY21" fmla="*/ 244221 h 390525"/>
              <a:gd name="connsiteX22" fmla="*/ 272862 w 342900"/>
              <a:gd name="connsiteY22" fmla="*/ 152305 h 390525"/>
              <a:gd name="connsiteX23" fmla="*/ 326297 w 342900"/>
              <a:gd name="connsiteY23" fmla="*/ 103822 h 390525"/>
              <a:gd name="connsiteX24" fmla="*/ 336869 w 342900"/>
              <a:gd name="connsiteY24" fmla="*/ 48482 h 390525"/>
              <a:gd name="connsiteX25" fmla="*/ 42833 w 342900"/>
              <a:gd name="connsiteY25" fmla="*/ 57340 h 390525"/>
              <a:gd name="connsiteX26" fmla="*/ 60168 w 342900"/>
              <a:gd name="connsiteY26" fmla="*/ 42005 h 390525"/>
              <a:gd name="connsiteX27" fmla="*/ 60168 w 342900"/>
              <a:gd name="connsiteY27" fmla="*/ 42005 h 390525"/>
              <a:gd name="connsiteX28" fmla="*/ 73217 w 342900"/>
              <a:gd name="connsiteY28" fmla="*/ 42005 h 390525"/>
              <a:gd name="connsiteX29" fmla="*/ 73313 w 342900"/>
              <a:gd name="connsiteY29" fmla="*/ 110871 h 390525"/>
              <a:gd name="connsiteX30" fmla="*/ 42833 w 342900"/>
              <a:gd name="connsiteY30" fmla="*/ 57340 h 390525"/>
              <a:gd name="connsiteX31" fmla="*/ 273052 w 342900"/>
              <a:gd name="connsiteY31" fmla="*/ 110776 h 390525"/>
              <a:gd name="connsiteX32" fmla="*/ 273052 w 342900"/>
              <a:gd name="connsiteY32" fmla="*/ 42005 h 390525"/>
              <a:gd name="connsiteX33" fmla="*/ 286101 w 342900"/>
              <a:gd name="connsiteY33" fmla="*/ 42005 h 390525"/>
              <a:gd name="connsiteX34" fmla="*/ 286101 w 342900"/>
              <a:gd name="connsiteY34" fmla="*/ 42005 h 390525"/>
              <a:gd name="connsiteX35" fmla="*/ 303436 w 342900"/>
              <a:gd name="connsiteY35" fmla="*/ 57340 h 390525"/>
              <a:gd name="connsiteX36" fmla="*/ 273052 w 342900"/>
              <a:gd name="connsiteY36" fmla="*/ 110776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2900" h="390525">
                <a:moveTo>
                  <a:pt x="336869" y="48482"/>
                </a:moveTo>
                <a:cubicBezTo>
                  <a:pt x="330678" y="24098"/>
                  <a:pt x="309723" y="7144"/>
                  <a:pt x="286006" y="7144"/>
                </a:cubicBezTo>
                <a:cubicBezTo>
                  <a:pt x="286006" y="7144"/>
                  <a:pt x="286006" y="7144"/>
                  <a:pt x="286006" y="7144"/>
                </a:cubicBezTo>
                <a:lnTo>
                  <a:pt x="255716" y="7144"/>
                </a:lnTo>
                <a:lnTo>
                  <a:pt x="90172" y="7144"/>
                </a:lnTo>
                <a:lnTo>
                  <a:pt x="59882" y="7144"/>
                </a:lnTo>
                <a:cubicBezTo>
                  <a:pt x="59882" y="7144"/>
                  <a:pt x="59882" y="7144"/>
                  <a:pt x="59882" y="7144"/>
                </a:cubicBezTo>
                <a:cubicBezTo>
                  <a:pt x="36165" y="7144"/>
                  <a:pt x="15305" y="24194"/>
                  <a:pt x="9019" y="48482"/>
                </a:cubicBezTo>
                <a:cubicBezTo>
                  <a:pt x="5876" y="60865"/>
                  <a:pt x="5113" y="80581"/>
                  <a:pt x="19592" y="103727"/>
                </a:cubicBezTo>
                <a:cubicBezTo>
                  <a:pt x="30640" y="121444"/>
                  <a:pt x="48738" y="137731"/>
                  <a:pt x="73217" y="152305"/>
                </a:cubicBezTo>
                <a:cubicBezTo>
                  <a:pt x="76265" y="198501"/>
                  <a:pt x="110841" y="236220"/>
                  <a:pt x="155704" y="244126"/>
                </a:cubicBezTo>
                <a:lnTo>
                  <a:pt x="155704" y="282035"/>
                </a:lnTo>
                <a:lnTo>
                  <a:pt x="102459" y="282035"/>
                </a:lnTo>
                <a:cubicBezTo>
                  <a:pt x="92934" y="282035"/>
                  <a:pt x="85124" y="289751"/>
                  <a:pt x="85124" y="299371"/>
                </a:cubicBezTo>
                <a:lnTo>
                  <a:pt x="85124" y="370332"/>
                </a:lnTo>
                <a:cubicBezTo>
                  <a:pt x="85124" y="379857"/>
                  <a:pt x="92839" y="387667"/>
                  <a:pt x="102459" y="387667"/>
                </a:cubicBezTo>
                <a:lnTo>
                  <a:pt x="244001" y="387667"/>
                </a:lnTo>
                <a:cubicBezTo>
                  <a:pt x="253526" y="387667"/>
                  <a:pt x="261336" y="379952"/>
                  <a:pt x="261336" y="370332"/>
                </a:cubicBezTo>
                <a:lnTo>
                  <a:pt x="261336" y="299371"/>
                </a:lnTo>
                <a:cubicBezTo>
                  <a:pt x="261336" y="289846"/>
                  <a:pt x="253621" y="282035"/>
                  <a:pt x="244001" y="282035"/>
                </a:cubicBezTo>
                <a:lnTo>
                  <a:pt x="190756" y="282035"/>
                </a:lnTo>
                <a:lnTo>
                  <a:pt x="190756" y="244221"/>
                </a:lnTo>
                <a:cubicBezTo>
                  <a:pt x="235238" y="236410"/>
                  <a:pt x="269908" y="198596"/>
                  <a:pt x="272862" y="152305"/>
                </a:cubicBezTo>
                <a:cubicBezTo>
                  <a:pt x="297246" y="137731"/>
                  <a:pt x="315247" y="121444"/>
                  <a:pt x="326297" y="103822"/>
                </a:cubicBezTo>
                <a:cubicBezTo>
                  <a:pt x="340774" y="80581"/>
                  <a:pt x="340013" y="60865"/>
                  <a:pt x="336869" y="48482"/>
                </a:cubicBezTo>
                <a:close/>
                <a:moveTo>
                  <a:pt x="42833" y="57340"/>
                </a:moveTo>
                <a:cubicBezTo>
                  <a:pt x="45405" y="47244"/>
                  <a:pt x="53501" y="42005"/>
                  <a:pt x="60168" y="42005"/>
                </a:cubicBezTo>
                <a:lnTo>
                  <a:pt x="60168" y="42005"/>
                </a:lnTo>
                <a:lnTo>
                  <a:pt x="73217" y="42005"/>
                </a:lnTo>
                <a:lnTo>
                  <a:pt x="73313" y="110871"/>
                </a:lnTo>
                <a:cubicBezTo>
                  <a:pt x="46643" y="90297"/>
                  <a:pt x="39499" y="70580"/>
                  <a:pt x="42833" y="57340"/>
                </a:cubicBezTo>
                <a:close/>
                <a:moveTo>
                  <a:pt x="273052" y="110776"/>
                </a:moveTo>
                <a:lnTo>
                  <a:pt x="273052" y="42005"/>
                </a:lnTo>
                <a:lnTo>
                  <a:pt x="286101" y="42005"/>
                </a:lnTo>
                <a:lnTo>
                  <a:pt x="286101" y="42005"/>
                </a:lnTo>
                <a:cubicBezTo>
                  <a:pt x="292769" y="42005"/>
                  <a:pt x="300865" y="47244"/>
                  <a:pt x="303436" y="57340"/>
                </a:cubicBezTo>
                <a:cubicBezTo>
                  <a:pt x="306865" y="70580"/>
                  <a:pt x="299722" y="90202"/>
                  <a:pt x="273052" y="110776"/>
                </a:cubicBezTo>
                <a:close/>
              </a:path>
            </a:pathLst>
          </a:custGeom>
          <a:solidFill>
            <a:srgbClr val="02202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직사각형 59">
            <a:extLst>
              <a:ext uri="{FF2B5EF4-FFF2-40B4-BE49-F238E27FC236}">
                <a16:creationId xmlns:a16="http://schemas.microsoft.com/office/drawing/2014/main" id="{4D36A71E-3FA7-7B73-2820-C9FD49BD48C4}"/>
              </a:ext>
            </a:extLst>
          </p:cNvPr>
          <p:cNvSpPr/>
          <p:nvPr/>
        </p:nvSpPr>
        <p:spPr>
          <a:xfrm>
            <a:off x="1702972" y="2742746"/>
            <a:ext cx="1053085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First rigorously controlled CNN vs Transformer comparison for chess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Identical training reveals architectural biases shape learned behaviors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CNNs and Transformers develop complementary chess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Key insight: inductive biases determine what types of patterns models learn efficiently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BC67D"/>
                </a:solidFill>
                <a:latin typeface="+mj-lt"/>
              </a:rPr>
              <a:t>Broader impact: Domain structure should guide architecture selection</a:t>
            </a:r>
            <a:endParaRPr lang="ko-KR" altLang="en-US" sz="2000" dirty="0">
              <a:solidFill>
                <a:srgbClr val="FBC67D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644616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52B3E-7B1B-0217-BC77-D4EEB3555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1A5B853-A3F3-3D15-3D40-ABE081E2F598}"/>
              </a:ext>
            </a:extLst>
          </p:cNvPr>
          <p:cNvSpPr txBox="1"/>
          <p:nvPr/>
        </p:nvSpPr>
        <p:spPr>
          <a:xfrm>
            <a:off x="2296794" y="2505670"/>
            <a:ext cx="7234831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 b="1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sz="5400" b="0" dirty="0">
                <a:solidFill>
                  <a:srgbClr val="FBC67D"/>
                </a:solidFill>
                <a:latin typeface="+mj-lt"/>
              </a:rPr>
              <a:t>Thank You</a:t>
            </a: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FED85545-DDB5-9124-5F9C-CDB3A5D94F98}"/>
              </a:ext>
            </a:extLst>
          </p:cNvPr>
          <p:cNvSpPr/>
          <p:nvPr/>
        </p:nvSpPr>
        <p:spPr>
          <a:xfrm>
            <a:off x="6488962" y="5030865"/>
            <a:ext cx="479438" cy="546022"/>
          </a:xfrm>
          <a:custGeom>
            <a:avLst/>
            <a:gdLst>
              <a:gd name="connsiteX0" fmla="*/ 336869 w 342900"/>
              <a:gd name="connsiteY0" fmla="*/ 48482 h 390525"/>
              <a:gd name="connsiteX1" fmla="*/ 286006 w 342900"/>
              <a:gd name="connsiteY1" fmla="*/ 7144 h 390525"/>
              <a:gd name="connsiteX2" fmla="*/ 286006 w 342900"/>
              <a:gd name="connsiteY2" fmla="*/ 7144 h 390525"/>
              <a:gd name="connsiteX3" fmla="*/ 255716 w 342900"/>
              <a:gd name="connsiteY3" fmla="*/ 7144 h 390525"/>
              <a:gd name="connsiteX4" fmla="*/ 90172 w 342900"/>
              <a:gd name="connsiteY4" fmla="*/ 7144 h 390525"/>
              <a:gd name="connsiteX5" fmla="*/ 59882 w 342900"/>
              <a:gd name="connsiteY5" fmla="*/ 7144 h 390525"/>
              <a:gd name="connsiteX6" fmla="*/ 59882 w 342900"/>
              <a:gd name="connsiteY6" fmla="*/ 7144 h 390525"/>
              <a:gd name="connsiteX7" fmla="*/ 9019 w 342900"/>
              <a:gd name="connsiteY7" fmla="*/ 48482 h 390525"/>
              <a:gd name="connsiteX8" fmla="*/ 19592 w 342900"/>
              <a:gd name="connsiteY8" fmla="*/ 103727 h 390525"/>
              <a:gd name="connsiteX9" fmla="*/ 73217 w 342900"/>
              <a:gd name="connsiteY9" fmla="*/ 152305 h 390525"/>
              <a:gd name="connsiteX10" fmla="*/ 155704 w 342900"/>
              <a:gd name="connsiteY10" fmla="*/ 244126 h 390525"/>
              <a:gd name="connsiteX11" fmla="*/ 155704 w 342900"/>
              <a:gd name="connsiteY11" fmla="*/ 282035 h 390525"/>
              <a:gd name="connsiteX12" fmla="*/ 102459 w 342900"/>
              <a:gd name="connsiteY12" fmla="*/ 282035 h 390525"/>
              <a:gd name="connsiteX13" fmla="*/ 85124 w 342900"/>
              <a:gd name="connsiteY13" fmla="*/ 299371 h 390525"/>
              <a:gd name="connsiteX14" fmla="*/ 85124 w 342900"/>
              <a:gd name="connsiteY14" fmla="*/ 370332 h 390525"/>
              <a:gd name="connsiteX15" fmla="*/ 102459 w 342900"/>
              <a:gd name="connsiteY15" fmla="*/ 387667 h 390525"/>
              <a:gd name="connsiteX16" fmla="*/ 244001 w 342900"/>
              <a:gd name="connsiteY16" fmla="*/ 387667 h 390525"/>
              <a:gd name="connsiteX17" fmla="*/ 261336 w 342900"/>
              <a:gd name="connsiteY17" fmla="*/ 370332 h 390525"/>
              <a:gd name="connsiteX18" fmla="*/ 261336 w 342900"/>
              <a:gd name="connsiteY18" fmla="*/ 299371 h 390525"/>
              <a:gd name="connsiteX19" fmla="*/ 244001 w 342900"/>
              <a:gd name="connsiteY19" fmla="*/ 282035 h 390525"/>
              <a:gd name="connsiteX20" fmla="*/ 190756 w 342900"/>
              <a:gd name="connsiteY20" fmla="*/ 282035 h 390525"/>
              <a:gd name="connsiteX21" fmla="*/ 190756 w 342900"/>
              <a:gd name="connsiteY21" fmla="*/ 244221 h 390525"/>
              <a:gd name="connsiteX22" fmla="*/ 272862 w 342900"/>
              <a:gd name="connsiteY22" fmla="*/ 152305 h 390525"/>
              <a:gd name="connsiteX23" fmla="*/ 326297 w 342900"/>
              <a:gd name="connsiteY23" fmla="*/ 103822 h 390525"/>
              <a:gd name="connsiteX24" fmla="*/ 336869 w 342900"/>
              <a:gd name="connsiteY24" fmla="*/ 48482 h 390525"/>
              <a:gd name="connsiteX25" fmla="*/ 42833 w 342900"/>
              <a:gd name="connsiteY25" fmla="*/ 57340 h 390525"/>
              <a:gd name="connsiteX26" fmla="*/ 60168 w 342900"/>
              <a:gd name="connsiteY26" fmla="*/ 42005 h 390525"/>
              <a:gd name="connsiteX27" fmla="*/ 60168 w 342900"/>
              <a:gd name="connsiteY27" fmla="*/ 42005 h 390525"/>
              <a:gd name="connsiteX28" fmla="*/ 73217 w 342900"/>
              <a:gd name="connsiteY28" fmla="*/ 42005 h 390525"/>
              <a:gd name="connsiteX29" fmla="*/ 73313 w 342900"/>
              <a:gd name="connsiteY29" fmla="*/ 110871 h 390525"/>
              <a:gd name="connsiteX30" fmla="*/ 42833 w 342900"/>
              <a:gd name="connsiteY30" fmla="*/ 57340 h 390525"/>
              <a:gd name="connsiteX31" fmla="*/ 273052 w 342900"/>
              <a:gd name="connsiteY31" fmla="*/ 110776 h 390525"/>
              <a:gd name="connsiteX32" fmla="*/ 273052 w 342900"/>
              <a:gd name="connsiteY32" fmla="*/ 42005 h 390525"/>
              <a:gd name="connsiteX33" fmla="*/ 286101 w 342900"/>
              <a:gd name="connsiteY33" fmla="*/ 42005 h 390525"/>
              <a:gd name="connsiteX34" fmla="*/ 286101 w 342900"/>
              <a:gd name="connsiteY34" fmla="*/ 42005 h 390525"/>
              <a:gd name="connsiteX35" fmla="*/ 303436 w 342900"/>
              <a:gd name="connsiteY35" fmla="*/ 57340 h 390525"/>
              <a:gd name="connsiteX36" fmla="*/ 273052 w 342900"/>
              <a:gd name="connsiteY36" fmla="*/ 110776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2900" h="390525">
                <a:moveTo>
                  <a:pt x="336869" y="48482"/>
                </a:moveTo>
                <a:cubicBezTo>
                  <a:pt x="330678" y="24098"/>
                  <a:pt x="309723" y="7144"/>
                  <a:pt x="286006" y="7144"/>
                </a:cubicBezTo>
                <a:cubicBezTo>
                  <a:pt x="286006" y="7144"/>
                  <a:pt x="286006" y="7144"/>
                  <a:pt x="286006" y="7144"/>
                </a:cubicBezTo>
                <a:lnTo>
                  <a:pt x="255716" y="7144"/>
                </a:lnTo>
                <a:lnTo>
                  <a:pt x="90172" y="7144"/>
                </a:lnTo>
                <a:lnTo>
                  <a:pt x="59882" y="7144"/>
                </a:lnTo>
                <a:cubicBezTo>
                  <a:pt x="59882" y="7144"/>
                  <a:pt x="59882" y="7144"/>
                  <a:pt x="59882" y="7144"/>
                </a:cubicBezTo>
                <a:cubicBezTo>
                  <a:pt x="36165" y="7144"/>
                  <a:pt x="15305" y="24194"/>
                  <a:pt x="9019" y="48482"/>
                </a:cubicBezTo>
                <a:cubicBezTo>
                  <a:pt x="5876" y="60865"/>
                  <a:pt x="5113" y="80581"/>
                  <a:pt x="19592" y="103727"/>
                </a:cubicBezTo>
                <a:cubicBezTo>
                  <a:pt x="30640" y="121444"/>
                  <a:pt x="48738" y="137731"/>
                  <a:pt x="73217" y="152305"/>
                </a:cubicBezTo>
                <a:cubicBezTo>
                  <a:pt x="76265" y="198501"/>
                  <a:pt x="110841" y="236220"/>
                  <a:pt x="155704" y="244126"/>
                </a:cubicBezTo>
                <a:lnTo>
                  <a:pt x="155704" y="282035"/>
                </a:lnTo>
                <a:lnTo>
                  <a:pt x="102459" y="282035"/>
                </a:lnTo>
                <a:cubicBezTo>
                  <a:pt x="92934" y="282035"/>
                  <a:pt x="85124" y="289751"/>
                  <a:pt x="85124" y="299371"/>
                </a:cubicBezTo>
                <a:lnTo>
                  <a:pt x="85124" y="370332"/>
                </a:lnTo>
                <a:cubicBezTo>
                  <a:pt x="85124" y="379857"/>
                  <a:pt x="92839" y="387667"/>
                  <a:pt x="102459" y="387667"/>
                </a:cubicBezTo>
                <a:lnTo>
                  <a:pt x="244001" y="387667"/>
                </a:lnTo>
                <a:cubicBezTo>
                  <a:pt x="253526" y="387667"/>
                  <a:pt x="261336" y="379952"/>
                  <a:pt x="261336" y="370332"/>
                </a:cubicBezTo>
                <a:lnTo>
                  <a:pt x="261336" y="299371"/>
                </a:lnTo>
                <a:cubicBezTo>
                  <a:pt x="261336" y="289846"/>
                  <a:pt x="253621" y="282035"/>
                  <a:pt x="244001" y="282035"/>
                </a:cubicBezTo>
                <a:lnTo>
                  <a:pt x="190756" y="282035"/>
                </a:lnTo>
                <a:lnTo>
                  <a:pt x="190756" y="244221"/>
                </a:lnTo>
                <a:cubicBezTo>
                  <a:pt x="235238" y="236410"/>
                  <a:pt x="269908" y="198596"/>
                  <a:pt x="272862" y="152305"/>
                </a:cubicBezTo>
                <a:cubicBezTo>
                  <a:pt x="297246" y="137731"/>
                  <a:pt x="315247" y="121444"/>
                  <a:pt x="326297" y="103822"/>
                </a:cubicBezTo>
                <a:cubicBezTo>
                  <a:pt x="340774" y="80581"/>
                  <a:pt x="340013" y="60865"/>
                  <a:pt x="336869" y="48482"/>
                </a:cubicBezTo>
                <a:close/>
                <a:moveTo>
                  <a:pt x="42833" y="57340"/>
                </a:moveTo>
                <a:cubicBezTo>
                  <a:pt x="45405" y="47244"/>
                  <a:pt x="53501" y="42005"/>
                  <a:pt x="60168" y="42005"/>
                </a:cubicBezTo>
                <a:lnTo>
                  <a:pt x="60168" y="42005"/>
                </a:lnTo>
                <a:lnTo>
                  <a:pt x="73217" y="42005"/>
                </a:lnTo>
                <a:lnTo>
                  <a:pt x="73313" y="110871"/>
                </a:lnTo>
                <a:cubicBezTo>
                  <a:pt x="46643" y="90297"/>
                  <a:pt x="39499" y="70580"/>
                  <a:pt x="42833" y="57340"/>
                </a:cubicBezTo>
                <a:close/>
                <a:moveTo>
                  <a:pt x="273052" y="110776"/>
                </a:moveTo>
                <a:lnTo>
                  <a:pt x="273052" y="42005"/>
                </a:lnTo>
                <a:lnTo>
                  <a:pt x="286101" y="42005"/>
                </a:lnTo>
                <a:lnTo>
                  <a:pt x="286101" y="42005"/>
                </a:lnTo>
                <a:cubicBezTo>
                  <a:pt x="292769" y="42005"/>
                  <a:pt x="300865" y="47244"/>
                  <a:pt x="303436" y="57340"/>
                </a:cubicBezTo>
                <a:cubicBezTo>
                  <a:pt x="306865" y="70580"/>
                  <a:pt x="299722" y="90202"/>
                  <a:pt x="273052" y="110776"/>
                </a:cubicBezTo>
                <a:close/>
              </a:path>
            </a:pathLst>
          </a:custGeom>
          <a:solidFill>
            <a:srgbClr val="02202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635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rbanist Black - Urbanist Light">
      <a:majorFont>
        <a:latin typeface="Urbanist Black"/>
        <a:ea typeface="Arial Unicode MS"/>
        <a:cs typeface=""/>
      </a:majorFont>
      <a:minorFont>
        <a:latin typeface="Urbanist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BC67D"/>
        </a:solidFill>
        <a:ln w="12838" cap="flat">
          <a:noFill/>
          <a:prstDash val="solid"/>
          <a:miter/>
        </a:ln>
        <a:effectLst/>
      </a:spPr>
      <a:bodyPr rtlCol="0" anchor="ctr"/>
      <a:lstStyle>
        <a:defPPr algn="ctr">
          <a:defRPr sz="2400" dirty="0" smtClean="0">
            <a:solidFill>
              <a:srgbClr val="02202D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BC67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D2DA15960F1349B22A78FBBA34739A" ma:contentTypeVersion="14" ma:contentTypeDescription="Create a new document." ma:contentTypeScope="" ma:versionID="ebdbff4282462d80e90419ceb95ab1db">
  <xsd:schema xmlns:xsd="http://www.w3.org/2001/XMLSchema" xmlns:xs="http://www.w3.org/2001/XMLSchema" xmlns:p="http://schemas.microsoft.com/office/2006/metadata/properties" xmlns:ns3="b029f74f-bdf5-4ce6-a8cb-127fa96ff1bd" xmlns:ns4="eace7fab-013a-45e4-9f06-55aa561bec88" targetNamespace="http://schemas.microsoft.com/office/2006/metadata/properties" ma:root="true" ma:fieldsID="cbb22bc5c454f525bfcc0b2becce493b" ns3:_="" ns4:_="">
    <xsd:import namespace="b029f74f-bdf5-4ce6-a8cb-127fa96ff1bd"/>
    <xsd:import namespace="eace7fab-013a-45e4-9f06-55aa561bec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29f74f-bdf5-4ce6-a8cb-127fa96ff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ce7fab-013a-45e4-9f06-55aa561bec8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29f74f-bdf5-4ce6-a8cb-127fa96ff1bd" xsi:nil="true"/>
  </documentManagement>
</p:properties>
</file>

<file path=customXml/itemProps1.xml><?xml version="1.0" encoding="utf-8"?>
<ds:datastoreItem xmlns:ds="http://schemas.openxmlformats.org/officeDocument/2006/customXml" ds:itemID="{D847491E-CDBA-41C3-9760-7B24DBC73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4DB55D-4583-46D4-81BD-D3C3B37C52B2}">
  <ds:schemaRefs>
    <ds:schemaRef ds:uri="b029f74f-bdf5-4ce6-a8cb-127fa96ff1bd"/>
    <ds:schemaRef ds:uri="eace7fab-013a-45e4-9f06-55aa561bec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2D3F961-B871-4992-9603-C74CA649FAAB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b029f74f-bdf5-4ce6-a8cb-127fa96ff1bd"/>
    <ds:schemaRef ds:uri="http://schemas.openxmlformats.org/package/2006/metadata/core-properties"/>
    <ds:schemaRef ds:uri="eace7fab-013a-45e4-9f06-55aa561bec88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1720</TotalTime>
  <Words>1622</Words>
  <Application>Microsoft Office PowerPoint</Application>
  <PresentationFormat>Widescreen</PresentationFormat>
  <Paragraphs>378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Amasis MT Pro Medium</vt:lpstr>
      <vt:lpstr>맑은 고딕</vt:lpstr>
      <vt:lpstr>Aptos Slab ExtraBold</vt:lpstr>
      <vt:lpstr>Calibri</vt:lpstr>
      <vt:lpstr>Arial</vt:lpstr>
      <vt:lpstr>PPTMON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Rami Abu-Much</cp:lastModifiedBy>
  <cp:revision>2</cp:revision>
  <dcterms:created xsi:type="dcterms:W3CDTF">2019-04-06T05:20:47Z</dcterms:created>
  <dcterms:modified xsi:type="dcterms:W3CDTF">2025-11-16T18:37:42Z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0x0101007ED2DA15960F1349B22A78FBBA34739A</vt:lpwstr>
  </property>
</Properties>
</file>